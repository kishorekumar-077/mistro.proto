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8288000" cy="10287000"/>
  <p:notesSz cx="6858000" cy="9144000"/>
  <p:embeddedFontLst>
    <p:embeddedFont>
      <p:font typeface="Archive" panose="020B0604020202020204" charset="0"/>
      <p:regular r:id="rId25"/>
    </p:embeddedFont>
    <p:embeddedFont>
      <p:font typeface="Canva Sans" panose="020B0604020202020204" charset="0"/>
      <p:regular r:id="rId26"/>
    </p:embeddedFont>
    <p:embeddedFont>
      <p:font typeface="Gordita" panose="020B0604020202020204" charset="0"/>
      <p:regular r:id="rId27"/>
    </p:embeddedFont>
    <p:embeddedFont>
      <p:font typeface="Gordita Bold" panose="020B0604020202020204" charset="0"/>
      <p:regular r:id="rId28"/>
    </p:embeddedFont>
    <p:embeddedFont>
      <p:font typeface="Poppins" panose="00000500000000000000" pitchFamily="2" charset="0"/>
      <p:regular r:id="rId29"/>
    </p:embeddedFont>
    <p:embeddedFont>
      <p:font typeface="Poppins Bold" panose="020B0604020202020204" charset="0"/>
      <p:regular r:id="rId30"/>
    </p:embeddedFont>
    <p:embeddedFont>
      <p:font typeface="Proxima Nova" panose="020B0604020202020204" charset="0"/>
      <p:regular r:id="rId31"/>
    </p:embeddedFont>
    <p:embeddedFont>
      <p:font typeface="Proxima Nova Bold" panose="020B0604020202020204" charset="0"/>
      <p:regular r:id="rId32"/>
    </p:embeddedFont>
    <p:embeddedFont>
      <p:font typeface="Source Sans Pro Bold" panose="020B0604020202020204" charset="0"/>
      <p:regular r:id="rId33"/>
    </p:embeddedFont>
    <p:embeddedFont>
      <p:font typeface="Times New Roman MT" panose="020B0604020202020204" charset="0"/>
      <p:regular r:id="rId34"/>
    </p:embeddedFont>
    <p:embeddedFont>
      <p:font typeface="Times New Roman MT Bold" panose="020B0604020202020204" charset="0"/>
      <p:regular r:id="rId35"/>
    </p:embeddedFont>
    <p:embeddedFont>
      <p:font typeface="TT Hoves 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ore s" userId="5871c1c196d8b544" providerId="LiveId" clId="{5A57A565-2886-4CF3-95C9-E93DA0E3FEC2}"/>
    <pc:docChg chg="undo custSel addSld delSld modSld">
      <pc:chgData name="kishore s" userId="5871c1c196d8b544" providerId="LiveId" clId="{5A57A565-2886-4CF3-95C9-E93DA0E3FEC2}" dt="2026-08-20T05:39:52.934" v="236" actId="14100"/>
      <pc:docMkLst>
        <pc:docMk/>
      </pc:docMkLst>
      <pc:sldChg chg="delSp modSp mod">
        <pc:chgData name="kishore s" userId="5871c1c196d8b544" providerId="LiveId" clId="{5A57A565-2886-4CF3-95C9-E93DA0E3FEC2}" dt="2026-08-20T05:28:56.699" v="26"/>
        <pc:sldMkLst>
          <pc:docMk/>
          <pc:sldMk cId="0" sldId="256"/>
        </pc:sldMkLst>
        <pc:spChg chg="del mod">
          <ac:chgData name="kishore s" userId="5871c1c196d8b544" providerId="LiveId" clId="{5A57A565-2886-4CF3-95C9-E93DA0E3FEC2}" dt="2026-08-20T05:28:56.699" v="26"/>
          <ac:spMkLst>
            <pc:docMk/>
            <pc:sldMk cId="0" sldId="256"/>
            <ac:spMk id="9" creationId="{00000000-0000-0000-0000-000000000000}"/>
          </ac:spMkLst>
        </pc:spChg>
      </pc:sldChg>
      <pc:sldChg chg="del">
        <pc:chgData name="kishore s" userId="5871c1c196d8b544" providerId="LiveId" clId="{5A57A565-2886-4CF3-95C9-E93DA0E3FEC2}" dt="2026-08-20T05:29:26.259" v="27" actId="47"/>
        <pc:sldMkLst>
          <pc:docMk/>
          <pc:sldMk cId="0" sldId="260"/>
        </pc:sldMkLst>
      </pc:sldChg>
      <pc:sldChg chg="modSp mod">
        <pc:chgData name="kishore s" userId="5871c1c196d8b544" providerId="LiveId" clId="{5A57A565-2886-4CF3-95C9-E93DA0E3FEC2}" dt="2026-08-20T05:39:52.934" v="236" actId="14100"/>
        <pc:sldMkLst>
          <pc:docMk/>
          <pc:sldMk cId="0" sldId="262"/>
        </pc:sldMkLst>
        <pc:spChg chg="mod">
          <ac:chgData name="kishore s" userId="5871c1c196d8b544" providerId="LiveId" clId="{5A57A565-2886-4CF3-95C9-E93DA0E3FEC2}" dt="2026-08-20T05:39:52.934" v="236" actId="14100"/>
          <ac:spMkLst>
            <pc:docMk/>
            <pc:sldMk cId="0" sldId="262"/>
            <ac:spMk id="13" creationId="{00000000-0000-0000-0000-000000000000}"/>
          </ac:spMkLst>
        </pc:spChg>
      </pc:sldChg>
      <pc:sldChg chg="del">
        <pc:chgData name="kishore s" userId="5871c1c196d8b544" providerId="LiveId" clId="{5A57A565-2886-4CF3-95C9-E93DA0E3FEC2}" dt="2026-08-20T05:29:41.689" v="28" actId="47"/>
        <pc:sldMkLst>
          <pc:docMk/>
          <pc:sldMk cId="0" sldId="263"/>
        </pc:sldMkLst>
      </pc:sldChg>
      <pc:sldChg chg="del">
        <pc:chgData name="kishore s" userId="5871c1c196d8b544" providerId="LiveId" clId="{5A57A565-2886-4CF3-95C9-E93DA0E3FEC2}" dt="2026-08-20T05:29:55.640" v="29" actId="47"/>
        <pc:sldMkLst>
          <pc:docMk/>
          <pc:sldMk cId="0" sldId="267"/>
        </pc:sldMkLst>
      </pc:sldChg>
      <pc:sldChg chg="del">
        <pc:chgData name="kishore s" userId="5871c1c196d8b544" providerId="LiveId" clId="{5A57A565-2886-4CF3-95C9-E93DA0E3FEC2}" dt="2026-08-20T05:29:58.552" v="30" actId="47"/>
        <pc:sldMkLst>
          <pc:docMk/>
          <pc:sldMk cId="0" sldId="268"/>
        </pc:sldMkLst>
      </pc:sldChg>
      <pc:sldChg chg="addSp delSp modSp mod">
        <pc:chgData name="kishore s" userId="5871c1c196d8b544" providerId="LiveId" clId="{5A57A565-2886-4CF3-95C9-E93DA0E3FEC2}" dt="2026-08-20T05:31:51.520" v="77" actId="1076"/>
        <pc:sldMkLst>
          <pc:docMk/>
          <pc:sldMk cId="0" sldId="269"/>
        </pc:sldMkLst>
        <pc:spChg chg="del">
          <ac:chgData name="kishore s" userId="5871c1c196d8b544" providerId="LiveId" clId="{5A57A565-2886-4CF3-95C9-E93DA0E3FEC2}" dt="2026-08-20T05:30:18.943" v="64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kishore s" userId="5871c1c196d8b544" providerId="LiveId" clId="{5A57A565-2886-4CF3-95C9-E93DA0E3FEC2}" dt="2026-08-20T05:30:17.940" v="63" actId="478"/>
          <ac:spMkLst>
            <pc:docMk/>
            <pc:sldMk cId="0" sldId="269"/>
            <ac:spMk id="8" creationId="{00000000-0000-0000-0000-000000000000}"/>
          </ac:spMkLst>
        </pc:spChg>
        <pc:spChg chg="del">
          <ac:chgData name="kishore s" userId="5871c1c196d8b544" providerId="LiveId" clId="{5A57A565-2886-4CF3-95C9-E93DA0E3FEC2}" dt="2026-08-20T05:30:08.777" v="54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kishore s" userId="5871c1c196d8b544" providerId="LiveId" clId="{5A57A565-2886-4CF3-95C9-E93DA0E3FEC2}" dt="2026-08-20T05:30:15.990" v="61" actId="478"/>
          <ac:spMkLst>
            <pc:docMk/>
            <pc:sldMk cId="0" sldId="269"/>
            <ac:spMk id="10" creationId="{00000000-0000-0000-0000-000000000000}"/>
          </ac:spMkLst>
        </pc:spChg>
        <pc:spChg chg="del">
          <ac:chgData name="kishore s" userId="5871c1c196d8b544" providerId="LiveId" clId="{5A57A565-2886-4CF3-95C9-E93DA0E3FEC2}" dt="2026-08-20T05:30:11.141" v="57" actId="478"/>
          <ac:spMkLst>
            <pc:docMk/>
            <pc:sldMk cId="0" sldId="269"/>
            <ac:spMk id="11" creationId="{00000000-0000-0000-0000-000000000000}"/>
          </ac:spMkLst>
        </pc:spChg>
        <pc:spChg chg="del mod">
          <ac:chgData name="kishore s" userId="5871c1c196d8b544" providerId="LiveId" clId="{5A57A565-2886-4CF3-95C9-E93DA0E3FEC2}" dt="2026-08-20T05:30:17.024" v="62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kishore s" userId="5871c1c196d8b544" providerId="LiveId" clId="{5A57A565-2886-4CF3-95C9-E93DA0E3FEC2}" dt="2026-08-20T05:30:12.372" v="58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kishore s" userId="5871c1c196d8b544" providerId="LiveId" clId="{5A57A565-2886-4CF3-95C9-E93DA0E3FEC2}" dt="2026-08-20T05:30:14.787" v="60" actId="478"/>
          <ac:spMkLst>
            <pc:docMk/>
            <pc:sldMk cId="0" sldId="269"/>
            <ac:spMk id="14" creationId="{00000000-0000-0000-0000-000000000000}"/>
          </ac:spMkLst>
        </pc:spChg>
        <pc:spChg chg="del mod">
          <ac:chgData name="kishore s" userId="5871c1c196d8b544" providerId="LiveId" clId="{5A57A565-2886-4CF3-95C9-E93DA0E3FEC2}" dt="2026-08-20T05:30:08.777" v="56"/>
          <ac:spMkLst>
            <pc:docMk/>
            <pc:sldMk cId="0" sldId="269"/>
            <ac:spMk id="16" creationId="{00000000-0000-0000-0000-000000000000}"/>
          </ac:spMkLst>
        </pc:spChg>
        <pc:picChg chg="add mod modCrop">
          <ac:chgData name="kishore s" userId="5871c1c196d8b544" providerId="LiveId" clId="{5A57A565-2886-4CF3-95C9-E93DA0E3FEC2}" dt="2026-08-20T05:31:14.802" v="72" actId="14100"/>
          <ac:picMkLst>
            <pc:docMk/>
            <pc:sldMk cId="0" sldId="269"/>
            <ac:picMk id="18" creationId="{6E316EB1-28FB-3127-92AC-D7CABCDDC45C}"/>
          </ac:picMkLst>
        </pc:picChg>
        <pc:picChg chg="add mod modCrop">
          <ac:chgData name="kishore s" userId="5871c1c196d8b544" providerId="LiveId" clId="{5A57A565-2886-4CF3-95C9-E93DA0E3FEC2}" dt="2026-08-20T05:31:51.520" v="77" actId="1076"/>
          <ac:picMkLst>
            <pc:docMk/>
            <pc:sldMk cId="0" sldId="269"/>
            <ac:picMk id="20" creationId="{D1567716-EAE7-B220-79BF-16E24E45CCC7}"/>
          </ac:picMkLst>
        </pc:picChg>
      </pc:sldChg>
      <pc:sldChg chg="addSp delSp modSp mod">
        <pc:chgData name="kishore s" userId="5871c1c196d8b544" providerId="LiveId" clId="{5A57A565-2886-4CF3-95C9-E93DA0E3FEC2}" dt="2026-08-20T05:34:44.997" v="136" actId="1076"/>
        <pc:sldMkLst>
          <pc:docMk/>
          <pc:sldMk cId="0" sldId="270"/>
        </pc:sldMkLst>
        <pc:spChg chg="del">
          <ac:chgData name="kishore s" userId="5871c1c196d8b544" providerId="LiveId" clId="{5A57A565-2886-4CF3-95C9-E93DA0E3FEC2}" dt="2026-08-20T05:32:04.705" v="102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kishore s" userId="5871c1c196d8b544" providerId="LiveId" clId="{5A57A565-2886-4CF3-95C9-E93DA0E3FEC2}" dt="2026-08-20T05:32:03.649" v="101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kishore s" userId="5871c1c196d8b544" providerId="LiveId" clId="{5A57A565-2886-4CF3-95C9-E93DA0E3FEC2}" dt="2026-08-20T05:32:05.723" v="103" actId="478"/>
          <ac:spMkLst>
            <pc:docMk/>
            <pc:sldMk cId="0" sldId="270"/>
            <ac:spMk id="9" creationId="{00000000-0000-0000-0000-000000000000}"/>
          </ac:spMkLst>
        </pc:spChg>
        <pc:spChg chg="mod">
          <ac:chgData name="kishore s" userId="5871c1c196d8b544" providerId="LiveId" clId="{5A57A565-2886-4CF3-95C9-E93DA0E3FEC2}" dt="2026-08-20T05:32:01.593" v="100" actId="20577"/>
          <ac:spMkLst>
            <pc:docMk/>
            <pc:sldMk cId="0" sldId="270"/>
            <ac:spMk id="10" creationId="{00000000-0000-0000-0000-000000000000}"/>
          </ac:spMkLst>
        </pc:spChg>
        <pc:picChg chg="add mod modCrop">
          <ac:chgData name="kishore s" userId="5871c1c196d8b544" providerId="LiveId" clId="{5A57A565-2886-4CF3-95C9-E93DA0E3FEC2}" dt="2026-08-20T05:34:41.508" v="135" actId="1076"/>
          <ac:picMkLst>
            <pc:docMk/>
            <pc:sldMk cId="0" sldId="270"/>
            <ac:picMk id="12" creationId="{AFDA17AB-B123-8BD7-6495-E723311712EC}"/>
          </ac:picMkLst>
        </pc:picChg>
        <pc:picChg chg="add del mod modCrop">
          <ac:chgData name="kishore s" userId="5871c1c196d8b544" providerId="LiveId" clId="{5A57A565-2886-4CF3-95C9-E93DA0E3FEC2}" dt="2026-08-20T05:33:51.288" v="124" actId="931"/>
          <ac:picMkLst>
            <pc:docMk/>
            <pc:sldMk cId="0" sldId="270"/>
            <ac:picMk id="14" creationId="{6E6CD680-9D1C-1142-1D33-58C7EAA71B1A}"/>
          </ac:picMkLst>
        </pc:picChg>
        <pc:picChg chg="add mod modCrop">
          <ac:chgData name="kishore s" userId="5871c1c196d8b544" providerId="LiveId" clId="{5A57A565-2886-4CF3-95C9-E93DA0E3FEC2}" dt="2026-08-20T05:34:44.997" v="136" actId="1076"/>
          <ac:picMkLst>
            <pc:docMk/>
            <pc:sldMk cId="0" sldId="270"/>
            <ac:picMk id="16" creationId="{A148501E-2F60-9CF9-3150-19FB21605B67}"/>
          </ac:picMkLst>
        </pc:picChg>
      </pc:sldChg>
      <pc:sldChg chg="addSp delSp modSp mod">
        <pc:chgData name="kishore s" userId="5871c1c196d8b544" providerId="LiveId" clId="{5A57A565-2886-4CF3-95C9-E93DA0E3FEC2}" dt="2026-08-20T05:36:54.498" v="202" actId="1076"/>
        <pc:sldMkLst>
          <pc:docMk/>
          <pc:sldMk cId="0" sldId="271"/>
        </pc:sldMkLst>
        <pc:spChg chg="del">
          <ac:chgData name="kishore s" userId="5871c1c196d8b544" providerId="LiveId" clId="{5A57A565-2886-4CF3-95C9-E93DA0E3FEC2}" dt="2026-08-20T05:34:55.780" v="156" actId="478"/>
          <ac:spMkLst>
            <pc:docMk/>
            <pc:sldMk cId="0" sldId="271"/>
            <ac:spMk id="7" creationId="{00000000-0000-0000-0000-000000000000}"/>
          </ac:spMkLst>
        </pc:spChg>
        <pc:spChg chg="del">
          <ac:chgData name="kishore s" userId="5871c1c196d8b544" providerId="LiveId" clId="{5A57A565-2886-4CF3-95C9-E93DA0E3FEC2}" dt="2026-08-20T05:34:57.631" v="159" actId="478"/>
          <ac:spMkLst>
            <pc:docMk/>
            <pc:sldMk cId="0" sldId="271"/>
            <ac:spMk id="8" creationId="{00000000-0000-0000-0000-000000000000}"/>
          </ac:spMkLst>
        </pc:spChg>
        <pc:spChg chg="del">
          <ac:chgData name="kishore s" userId="5871c1c196d8b544" providerId="LiveId" clId="{5A57A565-2886-4CF3-95C9-E93DA0E3FEC2}" dt="2026-08-20T05:35:08.725" v="169" actId="478"/>
          <ac:spMkLst>
            <pc:docMk/>
            <pc:sldMk cId="0" sldId="271"/>
            <ac:spMk id="9" creationId="{00000000-0000-0000-0000-000000000000}"/>
          </ac:spMkLst>
        </pc:spChg>
        <pc:spChg chg="del">
          <ac:chgData name="kishore s" userId="5871c1c196d8b544" providerId="LiveId" clId="{5A57A565-2886-4CF3-95C9-E93DA0E3FEC2}" dt="2026-08-20T05:35:12.383" v="172" actId="478"/>
          <ac:spMkLst>
            <pc:docMk/>
            <pc:sldMk cId="0" sldId="271"/>
            <ac:spMk id="10" creationId="{00000000-0000-0000-0000-000000000000}"/>
          </ac:spMkLst>
        </pc:spChg>
        <pc:spChg chg="del">
          <ac:chgData name="kishore s" userId="5871c1c196d8b544" providerId="LiveId" clId="{5A57A565-2886-4CF3-95C9-E93DA0E3FEC2}" dt="2026-08-20T05:35:21.872" v="187" actId="478"/>
          <ac:spMkLst>
            <pc:docMk/>
            <pc:sldMk cId="0" sldId="271"/>
            <ac:spMk id="11" creationId="{00000000-0000-0000-0000-000000000000}"/>
          </ac:spMkLst>
        </pc:spChg>
        <pc:spChg chg="del">
          <ac:chgData name="kishore s" userId="5871c1c196d8b544" providerId="LiveId" clId="{5A57A565-2886-4CF3-95C9-E93DA0E3FEC2}" dt="2026-08-20T05:34:59.912" v="161" actId="478"/>
          <ac:spMkLst>
            <pc:docMk/>
            <pc:sldMk cId="0" sldId="271"/>
            <ac:spMk id="12" creationId="{00000000-0000-0000-0000-000000000000}"/>
          </ac:spMkLst>
        </pc:spChg>
        <pc:spChg chg="del">
          <ac:chgData name="kishore s" userId="5871c1c196d8b544" providerId="LiveId" clId="{5A57A565-2886-4CF3-95C9-E93DA0E3FEC2}" dt="2026-08-20T05:35:04.729" v="166" actId="47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kishore s" userId="5871c1c196d8b544" providerId="LiveId" clId="{5A57A565-2886-4CF3-95C9-E93DA0E3FEC2}" dt="2026-08-20T05:35:13.508" v="173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kishore s" userId="5871c1c196d8b544" providerId="LiveId" clId="{5A57A565-2886-4CF3-95C9-E93DA0E3FEC2}" dt="2026-08-20T05:35:23.380" v="192" actId="478"/>
          <ac:spMkLst>
            <pc:docMk/>
            <pc:sldMk cId="0" sldId="271"/>
            <ac:spMk id="15" creationId="{00000000-0000-0000-0000-000000000000}"/>
          </ac:spMkLst>
        </pc:spChg>
        <pc:spChg chg="del mod">
          <ac:chgData name="kishore s" userId="5871c1c196d8b544" providerId="LiveId" clId="{5A57A565-2886-4CF3-95C9-E93DA0E3FEC2}" dt="2026-08-20T05:34:55.780" v="158"/>
          <ac:spMkLst>
            <pc:docMk/>
            <pc:sldMk cId="0" sldId="271"/>
            <ac:spMk id="17" creationId="{00000000-0000-0000-0000-000000000000}"/>
          </ac:spMkLst>
        </pc:spChg>
        <pc:spChg chg="del mod">
          <ac:chgData name="kishore s" userId="5871c1c196d8b544" providerId="LiveId" clId="{5A57A565-2886-4CF3-95C9-E93DA0E3FEC2}" dt="2026-08-20T05:35:01.331" v="162" actId="478"/>
          <ac:spMkLst>
            <pc:docMk/>
            <pc:sldMk cId="0" sldId="271"/>
            <ac:spMk id="18" creationId="{00000000-0000-0000-0000-000000000000}"/>
          </ac:spMkLst>
        </pc:spChg>
        <pc:spChg chg="del mod">
          <ac:chgData name="kishore s" userId="5871c1c196d8b544" providerId="LiveId" clId="{5A57A565-2886-4CF3-95C9-E93DA0E3FEC2}" dt="2026-08-20T05:35:08.725" v="171"/>
          <ac:spMkLst>
            <pc:docMk/>
            <pc:sldMk cId="0" sldId="271"/>
            <ac:spMk id="19" creationId="{00000000-0000-0000-0000-000000000000}"/>
          </ac:spMkLst>
        </pc:spChg>
        <pc:spChg chg="del mod">
          <ac:chgData name="kishore s" userId="5871c1c196d8b544" providerId="LiveId" clId="{5A57A565-2886-4CF3-95C9-E93DA0E3FEC2}" dt="2026-08-20T05:35:21.872" v="189"/>
          <ac:spMkLst>
            <pc:docMk/>
            <pc:sldMk cId="0" sldId="271"/>
            <ac:spMk id="20" creationId="{00000000-0000-0000-0000-000000000000}"/>
          </ac:spMkLst>
        </pc:spChg>
        <pc:spChg chg="del mod">
          <ac:chgData name="kishore s" userId="5871c1c196d8b544" providerId="LiveId" clId="{5A57A565-2886-4CF3-95C9-E93DA0E3FEC2}" dt="2026-08-20T05:35:21.874" v="191"/>
          <ac:spMkLst>
            <pc:docMk/>
            <pc:sldMk cId="0" sldId="271"/>
            <ac:spMk id="21" creationId="{00000000-0000-0000-0000-000000000000}"/>
          </ac:spMkLst>
        </pc:spChg>
        <pc:picChg chg="add mod modCrop">
          <ac:chgData name="kishore s" userId="5871c1c196d8b544" providerId="LiveId" clId="{5A57A565-2886-4CF3-95C9-E93DA0E3FEC2}" dt="2026-08-20T05:36:11.730" v="197" actId="1076"/>
          <ac:picMkLst>
            <pc:docMk/>
            <pc:sldMk cId="0" sldId="271"/>
            <ac:picMk id="23" creationId="{73E1947F-36AD-FF1F-949E-53406D93A2B8}"/>
          </ac:picMkLst>
        </pc:picChg>
        <pc:picChg chg="add mod modCrop">
          <ac:chgData name="kishore s" userId="5871c1c196d8b544" providerId="LiveId" clId="{5A57A565-2886-4CF3-95C9-E93DA0E3FEC2}" dt="2026-08-20T05:36:54.498" v="202" actId="1076"/>
          <ac:picMkLst>
            <pc:docMk/>
            <pc:sldMk cId="0" sldId="271"/>
            <ac:picMk id="25" creationId="{0B248EDC-49FE-1D1A-78D6-587EBF1BCA35}"/>
          </ac:picMkLst>
        </pc:picChg>
      </pc:sldChg>
      <pc:sldChg chg="new del">
        <pc:chgData name="kishore s" userId="5871c1c196d8b544" providerId="LiveId" clId="{5A57A565-2886-4CF3-95C9-E93DA0E3FEC2}" dt="2026-08-20T05:37:09.659" v="204" actId="47"/>
        <pc:sldMkLst>
          <pc:docMk/>
          <pc:sldMk cId="972122271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jpe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jpeg"/><Relationship Id="rId5" Type="http://schemas.openxmlformats.org/officeDocument/2006/relationships/image" Target="../media/image3.jpe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3.jpeg"/><Relationship Id="rId10" Type="http://schemas.openxmlformats.org/officeDocument/2006/relationships/image" Target="../media/image20.svg"/><Relationship Id="rId4" Type="http://schemas.openxmlformats.org/officeDocument/2006/relationships/image" Target="../media/image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.pn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.jpeg"/><Relationship Id="rId10" Type="http://schemas.openxmlformats.org/officeDocument/2006/relationships/image" Target="../media/image25.svg"/><Relationship Id="rId4" Type="http://schemas.openxmlformats.org/officeDocument/2006/relationships/image" Target="../media/image4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2.png"/><Relationship Id="rId7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43.svg"/><Relationship Id="rId5" Type="http://schemas.openxmlformats.org/officeDocument/2006/relationships/image" Target="../media/image3.jpeg"/><Relationship Id="rId10" Type="http://schemas.openxmlformats.org/officeDocument/2006/relationships/image" Target="../media/image42.svg"/><Relationship Id="rId4" Type="http://schemas.openxmlformats.org/officeDocument/2006/relationships/image" Target="../media/image4.png"/><Relationship Id="rId9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3.jpeg"/><Relationship Id="rId4" Type="http://schemas.openxmlformats.org/officeDocument/2006/relationships/image" Target="../media/image4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3.jpeg"/><Relationship Id="rId10" Type="http://schemas.openxmlformats.org/officeDocument/2006/relationships/image" Target="../media/image53.svg"/><Relationship Id="rId4" Type="http://schemas.openxmlformats.org/officeDocument/2006/relationships/image" Target="../media/image4.png"/><Relationship Id="rId9" Type="http://schemas.openxmlformats.org/officeDocument/2006/relationships/image" Target="../media/image5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13" Type="http://schemas.openxmlformats.org/officeDocument/2006/relationships/image" Target="../media/image65.svg"/><Relationship Id="rId18" Type="http://schemas.openxmlformats.org/officeDocument/2006/relationships/image" Target="../media/image70.svg"/><Relationship Id="rId3" Type="http://schemas.openxmlformats.org/officeDocument/2006/relationships/image" Target="../media/image55.svg"/><Relationship Id="rId21" Type="http://schemas.openxmlformats.org/officeDocument/2006/relationships/image" Target="../media/image2.png"/><Relationship Id="rId7" Type="http://schemas.openxmlformats.org/officeDocument/2006/relationships/image" Target="../media/image59.svg"/><Relationship Id="rId12" Type="http://schemas.openxmlformats.org/officeDocument/2006/relationships/image" Target="../media/image64.svg"/><Relationship Id="rId17" Type="http://schemas.openxmlformats.org/officeDocument/2006/relationships/image" Target="../media/image69.svg"/><Relationship Id="rId2" Type="http://schemas.openxmlformats.org/officeDocument/2006/relationships/image" Target="../media/image54.svg"/><Relationship Id="rId16" Type="http://schemas.openxmlformats.org/officeDocument/2006/relationships/image" Target="../media/image68.sv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11" Type="http://schemas.openxmlformats.org/officeDocument/2006/relationships/image" Target="../media/image63.svg"/><Relationship Id="rId5" Type="http://schemas.openxmlformats.org/officeDocument/2006/relationships/image" Target="../media/image57.svg"/><Relationship Id="rId15" Type="http://schemas.openxmlformats.org/officeDocument/2006/relationships/image" Target="../media/image67.svg"/><Relationship Id="rId23" Type="http://schemas.openxmlformats.org/officeDocument/2006/relationships/image" Target="../media/image71.png"/><Relationship Id="rId10" Type="http://schemas.openxmlformats.org/officeDocument/2006/relationships/image" Target="../media/image62.svg"/><Relationship Id="rId19" Type="http://schemas.openxmlformats.org/officeDocument/2006/relationships/image" Target="../media/image1.png"/><Relationship Id="rId4" Type="http://schemas.openxmlformats.org/officeDocument/2006/relationships/image" Target="../media/image56.svg"/><Relationship Id="rId9" Type="http://schemas.openxmlformats.org/officeDocument/2006/relationships/image" Target="../media/image61.svg"/><Relationship Id="rId14" Type="http://schemas.openxmlformats.org/officeDocument/2006/relationships/image" Target="../media/image66.svg"/><Relationship Id="rId22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jpe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334" b="-871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3220014" y="3064310"/>
            <a:ext cx="2211153" cy="1981962"/>
          </a:xfrm>
          <a:custGeom>
            <a:avLst/>
            <a:gdLst/>
            <a:ahLst/>
            <a:cxnLst/>
            <a:rect l="l" t="t" r="r" b="b"/>
            <a:pathLst>
              <a:path w="2211153" h="1981962">
                <a:moveTo>
                  <a:pt x="0" y="0"/>
                </a:moveTo>
                <a:lnTo>
                  <a:pt x="2211153" y="0"/>
                </a:lnTo>
                <a:lnTo>
                  <a:pt x="2211153" y="1981962"/>
                </a:lnTo>
                <a:lnTo>
                  <a:pt x="0" y="1981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372" t="-41079" r="-38977" b="-6124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25590" y="2633773"/>
            <a:ext cx="9443604" cy="269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2"/>
              </a:lnSpc>
            </a:pPr>
            <a:r>
              <a:rPr lang="en-US" sz="14151">
                <a:solidFill>
                  <a:srgbClr val="FEFEF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MISTRO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56525" y="4872844"/>
            <a:ext cx="4376045" cy="45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3" b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 ON STRESS GONE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3221386" y="2098368"/>
            <a:ext cx="11845227" cy="7714204"/>
          </a:xfrm>
          <a:custGeom>
            <a:avLst/>
            <a:gdLst/>
            <a:ahLst/>
            <a:cxnLst/>
            <a:rect l="l" t="t" r="r" b="b"/>
            <a:pathLst>
              <a:path w="11845227" h="7714204">
                <a:moveTo>
                  <a:pt x="0" y="0"/>
                </a:moveTo>
                <a:lnTo>
                  <a:pt x="11845228" y="0"/>
                </a:lnTo>
                <a:lnTo>
                  <a:pt x="11845228" y="7714204"/>
                </a:lnTo>
                <a:lnTo>
                  <a:pt x="0" y="7714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312473" y="2330344"/>
            <a:ext cx="1484608" cy="1484608"/>
          </a:xfrm>
          <a:custGeom>
            <a:avLst/>
            <a:gdLst/>
            <a:ahLst/>
            <a:cxnLst/>
            <a:rect l="l" t="t" r="r" b="b"/>
            <a:pathLst>
              <a:path w="1484608" h="1484608">
                <a:moveTo>
                  <a:pt x="0" y="0"/>
                </a:moveTo>
                <a:lnTo>
                  <a:pt x="1484608" y="0"/>
                </a:lnTo>
                <a:lnTo>
                  <a:pt x="1484608" y="1484608"/>
                </a:lnTo>
                <a:lnTo>
                  <a:pt x="0" y="14846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85738" y="2330344"/>
            <a:ext cx="1484608" cy="1484608"/>
          </a:xfrm>
          <a:custGeom>
            <a:avLst/>
            <a:gdLst/>
            <a:ahLst/>
            <a:cxnLst/>
            <a:rect l="l" t="t" r="r" b="b"/>
            <a:pathLst>
              <a:path w="1484608" h="1484608">
                <a:moveTo>
                  <a:pt x="0" y="0"/>
                </a:moveTo>
                <a:lnTo>
                  <a:pt x="1484608" y="0"/>
                </a:lnTo>
                <a:lnTo>
                  <a:pt x="1484608" y="1484608"/>
                </a:lnTo>
                <a:lnTo>
                  <a:pt x="0" y="1484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367629" y="2409557"/>
            <a:ext cx="1547561" cy="1547561"/>
          </a:xfrm>
          <a:custGeom>
            <a:avLst/>
            <a:gdLst/>
            <a:ahLst/>
            <a:cxnLst/>
            <a:rect l="l" t="t" r="r" b="b"/>
            <a:pathLst>
              <a:path w="1547561" h="1547561">
                <a:moveTo>
                  <a:pt x="0" y="0"/>
                </a:moveTo>
                <a:lnTo>
                  <a:pt x="1547561" y="0"/>
                </a:lnTo>
                <a:lnTo>
                  <a:pt x="1547561" y="1547561"/>
                </a:lnTo>
                <a:lnTo>
                  <a:pt x="0" y="15475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439915">
            <a:off x="543654" y="2141584"/>
            <a:ext cx="1862128" cy="1862128"/>
          </a:xfrm>
          <a:custGeom>
            <a:avLst/>
            <a:gdLst/>
            <a:ahLst/>
            <a:cxnLst/>
            <a:rect l="l" t="t" r="r" b="b"/>
            <a:pathLst>
              <a:path w="1862128" h="1862128">
                <a:moveTo>
                  <a:pt x="0" y="0"/>
                </a:moveTo>
                <a:lnTo>
                  <a:pt x="1862128" y="0"/>
                </a:lnTo>
                <a:lnTo>
                  <a:pt x="1862128" y="1862128"/>
                </a:lnTo>
                <a:lnTo>
                  <a:pt x="0" y="1862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911071" y="302876"/>
            <a:ext cx="9059275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n-US" sz="3900" b="1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JUSTIFICATION FOR SUSTAINABLE DEVELOPMENT GOAL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6078" y="4289526"/>
            <a:ext cx="2037398" cy="59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PRIMARY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43330" y="4289526"/>
            <a:ext cx="2801341" cy="59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SECONDARY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81374" y="4289526"/>
            <a:ext cx="2179834" cy="59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TERITARY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96333" y="5518813"/>
            <a:ext cx="2516888" cy="2059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3"/>
              </a:lnSpc>
            </a:pPr>
            <a:r>
              <a:rPr lang="en-US" sz="3814">
                <a:solidFill>
                  <a:srgbClr val="FEFEF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SAP080201 SAP080301 SAP080B01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27372" y="5518813"/>
            <a:ext cx="2801341" cy="205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7"/>
              </a:lnSpc>
            </a:pPr>
            <a:r>
              <a:rPr lang="en-US" sz="38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SAP110101 SAP110301 SAP110A02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07943" y="5518813"/>
            <a:ext cx="2736727" cy="205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07"/>
              </a:lnSpc>
            </a:pPr>
            <a:r>
              <a:rPr lang="en-US" sz="3809">
                <a:solidFill>
                  <a:srgbClr val="FEFEF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SAP090101 SAP090202 SAP090501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7297266" y="1073195"/>
            <a:ext cx="1941833" cy="1941833"/>
          </a:xfrm>
          <a:custGeom>
            <a:avLst/>
            <a:gdLst/>
            <a:ahLst/>
            <a:cxnLst/>
            <a:rect l="l" t="t" r="r" b="b"/>
            <a:pathLst>
              <a:path w="1941833" h="1941833">
                <a:moveTo>
                  <a:pt x="0" y="0"/>
                </a:moveTo>
                <a:lnTo>
                  <a:pt x="1941833" y="0"/>
                </a:lnTo>
                <a:lnTo>
                  <a:pt x="1941833" y="1941833"/>
                </a:lnTo>
                <a:lnTo>
                  <a:pt x="0" y="1941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556803" y="1332732"/>
            <a:ext cx="1422759" cy="1422759"/>
            <a:chOff x="0" y="0"/>
            <a:chExt cx="1897012" cy="18970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96999" cy="1896999"/>
            </a:xfrm>
            <a:custGeom>
              <a:avLst/>
              <a:gdLst/>
              <a:ahLst/>
              <a:cxnLst/>
              <a:rect l="l" t="t" r="r" b="b"/>
              <a:pathLst>
                <a:path w="1896999" h="1896999">
                  <a:moveTo>
                    <a:pt x="0" y="0"/>
                  </a:moveTo>
                  <a:lnTo>
                    <a:pt x="1896999" y="0"/>
                  </a:lnTo>
                  <a:lnTo>
                    <a:pt x="1896999" y="1896999"/>
                  </a:lnTo>
                  <a:lnTo>
                    <a:pt x="0" y="1896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7297266" y="3881147"/>
            <a:ext cx="1941833" cy="1941833"/>
          </a:xfrm>
          <a:custGeom>
            <a:avLst/>
            <a:gdLst/>
            <a:ahLst/>
            <a:cxnLst/>
            <a:rect l="l" t="t" r="r" b="b"/>
            <a:pathLst>
              <a:path w="1941833" h="1941833">
                <a:moveTo>
                  <a:pt x="0" y="0"/>
                </a:moveTo>
                <a:lnTo>
                  <a:pt x="1941833" y="0"/>
                </a:lnTo>
                <a:lnTo>
                  <a:pt x="1941833" y="1941833"/>
                </a:lnTo>
                <a:lnTo>
                  <a:pt x="0" y="1941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297266" y="6509650"/>
            <a:ext cx="1941833" cy="1941833"/>
          </a:xfrm>
          <a:custGeom>
            <a:avLst/>
            <a:gdLst/>
            <a:ahLst/>
            <a:cxnLst/>
            <a:rect l="l" t="t" r="r" b="b"/>
            <a:pathLst>
              <a:path w="1941833" h="1941833">
                <a:moveTo>
                  <a:pt x="0" y="0"/>
                </a:moveTo>
                <a:lnTo>
                  <a:pt x="1941833" y="0"/>
                </a:lnTo>
                <a:lnTo>
                  <a:pt x="1941833" y="1941833"/>
                </a:lnTo>
                <a:lnTo>
                  <a:pt x="0" y="1941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644295" y="4276247"/>
            <a:ext cx="1247775" cy="1247775"/>
            <a:chOff x="0" y="0"/>
            <a:chExt cx="1663700" cy="1663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63700" cy="1663700"/>
            </a:xfrm>
            <a:custGeom>
              <a:avLst/>
              <a:gdLst/>
              <a:ahLst/>
              <a:cxnLst/>
              <a:rect l="l" t="t" r="r" b="b"/>
              <a:pathLst>
                <a:path w="1663700" h="1663700">
                  <a:moveTo>
                    <a:pt x="0" y="0"/>
                  </a:moveTo>
                  <a:lnTo>
                    <a:pt x="1663700" y="0"/>
                  </a:lnTo>
                  <a:lnTo>
                    <a:pt x="1663700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572857" y="6785242"/>
            <a:ext cx="1390650" cy="1390650"/>
            <a:chOff x="0" y="0"/>
            <a:chExt cx="1854200" cy="1854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54200" cy="1854200"/>
            </a:xfrm>
            <a:custGeom>
              <a:avLst/>
              <a:gdLst/>
              <a:ahLst/>
              <a:cxnLst/>
              <a:rect l="l" t="t" r="r" b="b"/>
              <a:pathLst>
                <a:path w="1854200" h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1854200"/>
                  </a:lnTo>
                  <a:lnTo>
                    <a:pt x="0" y="185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611381" y="3179590"/>
            <a:ext cx="4983250" cy="4983250"/>
          </a:xfrm>
          <a:custGeom>
            <a:avLst/>
            <a:gdLst/>
            <a:ahLst/>
            <a:cxnLst/>
            <a:rect l="l" t="t" r="r" b="b"/>
            <a:pathLst>
              <a:path w="4983250" h="4983250">
                <a:moveTo>
                  <a:pt x="0" y="0"/>
                </a:moveTo>
                <a:lnTo>
                  <a:pt x="4983250" y="0"/>
                </a:lnTo>
                <a:lnTo>
                  <a:pt x="4983250" y="4983251"/>
                </a:lnTo>
                <a:lnTo>
                  <a:pt x="0" y="49832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16552" y="3282629"/>
            <a:ext cx="4772909" cy="4777172"/>
          </a:xfrm>
          <a:custGeom>
            <a:avLst/>
            <a:gdLst/>
            <a:ahLst/>
            <a:cxnLst/>
            <a:rect l="l" t="t" r="r" b="b"/>
            <a:pathLst>
              <a:path w="4772909" h="4777172">
                <a:moveTo>
                  <a:pt x="0" y="0"/>
                </a:moveTo>
                <a:lnTo>
                  <a:pt x="4772909" y="0"/>
                </a:lnTo>
                <a:lnTo>
                  <a:pt x="4772909" y="4777173"/>
                </a:lnTo>
                <a:lnTo>
                  <a:pt x="0" y="4777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9847" t="-18677" r="-73617" b="-18187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6415" y="1825036"/>
            <a:ext cx="5453182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WHO WE ARE 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41437" y="1056904"/>
            <a:ext cx="909638" cy="6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sz="35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41437" y="3475382"/>
            <a:ext cx="1083316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41437" y="6103937"/>
            <a:ext cx="927764" cy="66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sz="35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84040" y="1679858"/>
            <a:ext cx="8413762" cy="1777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India's home services market is worth ₹5,07,000 crore (FY2025) — yet 99% of it runs on word-of-mouth, WhatsApp forwards, and unreliable middlemen. Skilled professionals earn below their potential while homeowners waste hours finding trustworthy help. The gap is massive. The timing is perfect.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88942" y="4192588"/>
            <a:ext cx="8603960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Mistro is a mobile-first, two-sided marketplace — the Swiggy for home services — connecting homeowners with Aadhaar-verified electricians, plumbers, carpenters, painters, technicians, and cleaners. Book in 60 seconds. Track in real time. Pay securely in-app.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88942" y="6858213"/>
            <a:ext cx="8603960" cy="213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We match customers to professionals using skill, location, availability, and ratings. Professionals are KYC-verified with Aadhaar + trade license. Revenue comes from transaction commissions (15–20%), pro subscriptions (₹199/mo), featured listings (₹499/mo), and in-app advertising. Dual app ecosystem: Mistro(customers) + MistroCrew (professionals).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11301" y="2494892"/>
            <a:ext cx="17441992" cy="5821265"/>
          </a:xfrm>
          <a:custGeom>
            <a:avLst/>
            <a:gdLst/>
            <a:ahLst/>
            <a:cxnLst/>
            <a:rect l="l" t="t" r="r" b="b"/>
            <a:pathLst>
              <a:path w="17441992" h="5821265">
                <a:moveTo>
                  <a:pt x="0" y="0"/>
                </a:moveTo>
                <a:lnTo>
                  <a:pt x="17441992" y="0"/>
                </a:lnTo>
                <a:lnTo>
                  <a:pt x="17441992" y="5821265"/>
                </a:lnTo>
                <a:lnTo>
                  <a:pt x="0" y="58212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48950" y="2691652"/>
            <a:ext cx="428904" cy="477887"/>
          </a:xfrm>
          <a:custGeom>
            <a:avLst/>
            <a:gdLst/>
            <a:ahLst/>
            <a:cxnLst/>
            <a:rect l="l" t="t" r="r" b="b"/>
            <a:pathLst>
              <a:path w="428904" h="477887">
                <a:moveTo>
                  <a:pt x="0" y="0"/>
                </a:moveTo>
                <a:lnTo>
                  <a:pt x="428904" y="0"/>
                </a:lnTo>
                <a:lnTo>
                  <a:pt x="428904" y="477888"/>
                </a:lnTo>
                <a:lnTo>
                  <a:pt x="0" y="477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888505" y="2691652"/>
            <a:ext cx="455784" cy="455784"/>
          </a:xfrm>
          <a:custGeom>
            <a:avLst/>
            <a:gdLst/>
            <a:ahLst/>
            <a:cxnLst/>
            <a:rect l="l" t="t" r="r" b="b"/>
            <a:pathLst>
              <a:path w="455784" h="455784">
                <a:moveTo>
                  <a:pt x="0" y="0"/>
                </a:moveTo>
                <a:lnTo>
                  <a:pt x="455784" y="0"/>
                </a:lnTo>
                <a:lnTo>
                  <a:pt x="455784" y="455784"/>
                </a:lnTo>
                <a:lnTo>
                  <a:pt x="0" y="455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4445" y="2691652"/>
            <a:ext cx="624395" cy="435515"/>
          </a:xfrm>
          <a:custGeom>
            <a:avLst/>
            <a:gdLst/>
            <a:ahLst/>
            <a:cxnLst/>
            <a:rect l="l" t="t" r="r" b="b"/>
            <a:pathLst>
              <a:path w="624395" h="435515">
                <a:moveTo>
                  <a:pt x="0" y="0"/>
                </a:moveTo>
                <a:lnTo>
                  <a:pt x="624395" y="0"/>
                </a:lnTo>
                <a:lnTo>
                  <a:pt x="624395" y="435515"/>
                </a:lnTo>
                <a:lnTo>
                  <a:pt x="0" y="435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077009" y="2691652"/>
            <a:ext cx="507641" cy="507641"/>
          </a:xfrm>
          <a:custGeom>
            <a:avLst/>
            <a:gdLst/>
            <a:ahLst/>
            <a:cxnLst/>
            <a:rect l="l" t="t" r="r" b="b"/>
            <a:pathLst>
              <a:path w="507641" h="507641">
                <a:moveTo>
                  <a:pt x="0" y="0"/>
                </a:moveTo>
                <a:lnTo>
                  <a:pt x="507640" y="0"/>
                </a:lnTo>
                <a:lnTo>
                  <a:pt x="507640" y="507641"/>
                </a:lnTo>
                <a:lnTo>
                  <a:pt x="0" y="507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721438" y="235572"/>
            <a:ext cx="9021718" cy="920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/ OPPORTUNITY: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1301" y="2659003"/>
            <a:ext cx="1937649" cy="510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sz="2682" b="1" spc="5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CONTEXT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03085" y="2659003"/>
            <a:ext cx="2785420" cy="51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  <a:spcBef>
                <a:spcPct val="0"/>
              </a:spcBef>
            </a:pPr>
            <a:r>
              <a:rPr lang="en-US" sz="2679" b="1" spc="5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PROBLEM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5151" y="2554070"/>
            <a:ext cx="2691858" cy="828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sz="2251" b="1" spc="4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EXISTING ALTERNATIVES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29420" y="2659003"/>
            <a:ext cx="2388321" cy="51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  <a:spcBef>
                <a:spcPct val="0"/>
              </a:spcBef>
            </a:pPr>
            <a:r>
              <a:rPr lang="en-US" sz="2679" b="1" spc="5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CUSTOMERS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89758" y="3406995"/>
            <a:ext cx="3558136" cy="441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941" lvl="1" indent="-269471" algn="l">
              <a:lnSpc>
                <a:spcPts val="3494"/>
              </a:lnSpc>
              <a:buFont typeface="Arial"/>
              <a:buChar char="•"/>
            </a:pPr>
            <a:r>
              <a:rPr lang="en-US" sz="2496" b="1" spc="4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Homeowners &amp; apartment renters seeking reliable, verified home services</a:t>
            </a:r>
          </a:p>
          <a:p>
            <a:pPr marL="538941" lvl="1" indent="-269471" algn="l">
              <a:lnSpc>
                <a:spcPts val="3494"/>
              </a:lnSpc>
              <a:buFont typeface="Arial"/>
              <a:buChar char="•"/>
            </a:pPr>
            <a:r>
              <a:rPr lang="en-US" sz="2496" b="1" spc="4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Freelance electricians, plumbers, carpenters, painters, and repair technicians seeking steady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5151" y="3341656"/>
            <a:ext cx="3889316" cy="489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918" lvl="1" indent="-231959" algn="l">
              <a:lnSpc>
                <a:spcPts val="3008"/>
              </a:lnSpc>
              <a:buFont typeface="Arial"/>
              <a:buChar char="•"/>
            </a:pPr>
            <a:r>
              <a:rPr lang="en-US" sz="2148" b="1" spc="4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Word-of-mouth recommendations → Inconsistent, limited reach</a:t>
            </a:r>
          </a:p>
          <a:p>
            <a:pPr marL="463918" lvl="1" indent="-231959" algn="l">
              <a:lnSpc>
                <a:spcPts val="3008"/>
              </a:lnSpc>
              <a:buFont typeface="Arial"/>
              <a:buChar char="•"/>
            </a:pPr>
            <a:r>
              <a:rPr lang="en-US" sz="2148" b="1" spc="4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Google searches → Time-consuming, no verification</a:t>
            </a:r>
          </a:p>
          <a:p>
            <a:pPr marL="463918" lvl="1" indent="-231959" algn="l">
              <a:lnSpc>
                <a:spcPts val="3008"/>
              </a:lnSpc>
              <a:buFont typeface="Arial"/>
              <a:buChar char="•"/>
            </a:pPr>
            <a:r>
              <a:rPr lang="en-US" sz="2148" b="1" spc="4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UrbanClap / Urban Company → Metro-only, premium-priced, employee model — not freelancer-first</a:t>
            </a:r>
          </a:p>
          <a:p>
            <a:pPr marL="463918" lvl="1" indent="-231959" algn="l">
              <a:lnSpc>
                <a:spcPts val="3008"/>
              </a:lnSpc>
              <a:buFont typeface="Arial"/>
              <a:buChar char="•"/>
            </a:pPr>
            <a:r>
              <a:rPr lang="en-US" sz="2148" b="1" spc="4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Fixee → No in-app transactions, unverified listings</a:t>
            </a:r>
          </a:p>
          <a:p>
            <a:pPr algn="l">
              <a:lnSpc>
                <a:spcPts val="3008"/>
              </a:lnSpc>
            </a:pPr>
            <a:endParaRPr lang="en-US" sz="2148" b="1" spc="42">
              <a:solidFill>
                <a:srgbClr val="FFFFFF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301435" y="3346450"/>
            <a:ext cx="3688580" cy="179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spc="4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There is no centralised, verified, and trust-first platform connecting skilled home service professionals with homeowners in India's Tier 1 and Tier 2 cities.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03085" y="5169581"/>
            <a:ext cx="3666776" cy="293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4074" lvl="1" indent="-222037" algn="l">
              <a:lnSpc>
                <a:spcPts val="2879"/>
              </a:lnSpc>
              <a:buFont typeface="Arial"/>
              <a:buChar char="•"/>
            </a:pPr>
            <a:r>
              <a:rPr lang="en-US" sz="2056" b="1" spc="4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Irregular, unpredictable income for 7.7M+ gig workers</a:t>
            </a:r>
          </a:p>
          <a:p>
            <a:pPr marL="444074" lvl="1" indent="-222037" algn="l">
              <a:lnSpc>
                <a:spcPts val="2879"/>
              </a:lnSpc>
              <a:buFont typeface="Arial"/>
              <a:buChar char="•"/>
            </a:pPr>
            <a:r>
              <a:rPr lang="en-US" sz="2056" b="1" spc="4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Customers paying inflated prices to unverified strangers</a:t>
            </a:r>
          </a:p>
          <a:p>
            <a:pPr marL="444074" lvl="1" indent="-222037" algn="l">
              <a:lnSpc>
                <a:spcPts val="2879"/>
              </a:lnSpc>
              <a:buFont typeface="Arial"/>
              <a:buChar char="•"/>
            </a:pPr>
            <a:r>
              <a:rPr lang="en-US" sz="2056" b="1" spc="4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 accountability, no recourse, no transparency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8984" y="3397470"/>
            <a:ext cx="3590200" cy="458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365" b="1" spc="47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India's home services sector employs millions of skilled tradespeople — plumbers, electricians, carpenters — who wake up every morning not knowing if they'll get a single job. Meanwhile, homeowners facing a burst pipe at 9 PM have no reliable platform to find help fast.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03" y="1889836"/>
            <a:ext cx="6482306" cy="6927332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11787497" y="347757"/>
            <a:ext cx="678244" cy="733236"/>
          </a:xfrm>
          <a:custGeom>
            <a:avLst/>
            <a:gdLst/>
            <a:ahLst/>
            <a:cxnLst/>
            <a:rect l="l" t="t" r="r" b="b"/>
            <a:pathLst>
              <a:path w="678244" h="733236">
                <a:moveTo>
                  <a:pt x="0" y="0"/>
                </a:moveTo>
                <a:lnTo>
                  <a:pt x="678244" y="0"/>
                </a:lnTo>
                <a:lnTo>
                  <a:pt x="678244" y="733236"/>
                </a:lnTo>
                <a:lnTo>
                  <a:pt x="0" y="733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791317" y="2205047"/>
            <a:ext cx="452065" cy="524133"/>
          </a:xfrm>
          <a:custGeom>
            <a:avLst/>
            <a:gdLst/>
            <a:ahLst/>
            <a:cxnLst/>
            <a:rect l="l" t="t" r="r" b="b"/>
            <a:pathLst>
              <a:path w="452065" h="524133">
                <a:moveTo>
                  <a:pt x="0" y="0"/>
                </a:moveTo>
                <a:lnTo>
                  <a:pt x="452065" y="0"/>
                </a:lnTo>
                <a:lnTo>
                  <a:pt x="452065" y="524133"/>
                </a:lnTo>
                <a:lnTo>
                  <a:pt x="0" y="524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604504" y="6901622"/>
            <a:ext cx="571818" cy="488905"/>
          </a:xfrm>
          <a:custGeom>
            <a:avLst/>
            <a:gdLst/>
            <a:ahLst/>
            <a:cxnLst/>
            <a:rect l="l" t="t" r="r" b="b"/>
            <a:pathLst>
              <a:path w="571818" h="488905">
                <a:moveTo>
                  <a:pt x="0" y="0"/>
                </a:moveTo>
                <a:lnTo>
                  <a:pt x="571818" y="0"/>
                </a:lnTo>
                <a:lnTo>
                  <a:pt x="571818" y="488904"/>
                </a:lnTo>
                <a:lnTo>
                  <a:pt x="0" y="488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395541" y="4428872"/>
            <a:ext cx="494872" cy="489924"/>
          </a:xfrm>
          <a:custGeom>
            <a:avLst/>
            <a:gdLst/>
            <a:ahLst/>
            <a:cxnLst/>
            <a:rect l="l" t="t" r="r" b="b"/>
            <a:pathLst>
              <a:path w="494872" h="489924">
                <a:moveTo>
                  <a:pt x="0" y="0"/>
                </a:moveTo>
                <a:lnTo>
                  <a:pt x="494872" y="0"/>
                </a:lnTo>
                <a:lnTo>
                  <a:pt x="494872" y="489923"/>
                </a:lnTo>
                <a:lnTo>
                  <a:pt x="0" y="489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509899" y="233772"/>
            <a:ext cx="5116949" cy="104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MARKET SIZE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93528" y="2419489"/>
            <a:ext cx="8831167" cy="18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1" spc="43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Total Addressable Market (TAM)</a:t>
            </a:r>
          </a:p>
          <a:p>
            <a:pPr marL="464558" lvl="1" indent="-232279" algn="l">
              <a:lnSpc>
                <a:spcPts val="3012"/>
              </a:lnSpc>
              <a:buFont typeface="Arial"/>
              <a:buChar char="•"/>
            </a:pPr>
            <a:r>
              <a:rPr lang="en-US" sz="2151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Total population in Tamil Nadu: 7.5 crore (2025 est.)</a:t>
            </a:r>
          </a:p>
          <a:p>
            <a:pPr marL="464558" lvl="1" indent="-232279" algn="l">
              <a:lnSpc>
                <a:spcPts val="3012"/>
              </a:lnSpc>
              <a:buFont typeface="Arial"/>
              <a:buChar char="•"/>
            </a:pPr>
            <a:r>
              <a:rPr lang="en-US" sz="2151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50% households require home services annually</a:t>
            </a:r>
          </a:p>
          <a:p>
            <a:pPr marL="464558" lvl="1" indent="-232279" algn="l">
              <a:lnSpc>
                <a:spcPts val="3012"/>
              </a:lnSpc>
              <a:buFont typeface="Arial"/>
              <a:buChar char="•"/>
            </a:pPr>
            <a:r>
              <a:rPr lang="en-US" sz="2151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TAM = 7.5 crore × 50%</a:t>
            </a:r>
          </a:p>
          <a:p>
            <a:pPr marL="464558" lvl="1" indent="-232279" algn="l">
              <a:lnSpc>
                <a:spcPts val="3012"/>
              </a:lnSpc>
              <a:buFont typeface="Arial"/>
              <a:buChar char="•"/>
            </a:pPr>
            <a:r>
              <a:rPr lang="en-US" sz="2151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TAM = 3.7 crore households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93528" y="4508307"/>
            <a:ext cx="7612535" cy="227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 spc="43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Serviceable Available Market (SAM)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Urban population ≈ 40% of Tamil Nadu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7.5 crore × 40% = 3 crore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~25% actively seek professional services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SAM = 3 crore × 25%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SAM = 75 lakh households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93528" y="6978168"/>
            <a:ext cx="8701326" cy="189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50" spc="43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Serviceable Obtainable Market (SOM)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Target cities: Chennai, Coimbatore, Madurai, Trichy, Salem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Initial capture: ~25% of SAM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SOM = 75 lakh × 25%</a:t>
            </a:r>
          </a:p>
          <a:p>
            <a:pPr marL="464186" lvl="1" indent="-232093" algn="l">
              <a:lnSpc>
                <a:spcPts val="3010"/>
              </a:lnSpc>
              <a:buFont typeface="Arial"/>
              <a:buChar char="•"/>
            </a:pPr>
            <a:r>
              <a:rPr lang="en-US" sz="2150" spc="43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SOM = 18–19 lakh households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198802" y="1898515"/>
            <a:ext cx="14119491" cy="7359785"/>
          </a:xfrm>
          <a:custGeom>
            <a:avLst/>
            <a:gdLst/>
            <a:ahLst/>
            <a:cxnLst/>
            <a:rect l="l" t="t" r="r" b="b"/>
            <a:pathLst>
              <a:path w="14119491" h="7359785">
                <a:moveTo>
                  <a:pt x="0" y="0"/>
                </a:moveTo>
                <a:lnTo>
                  <a:pt x="14119491" y="0"/>
                </a:lnTo>
                <a:lnTo>
                  <a:pt x="14119491" y="7359785"/>
                </a:lnTo>
                <a:lnTo>
                  <a:pt x="0" y="73597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67820" y="1382058"/>
            <a:ext cx="1181454" cy="1181454"/>
          </a:xfrm>
          <a:custGeom>
            <a:avLst/>
            <a:gdLst/>
            <a:ahLst/>
            <a:cxnLst/>
            <a:rect l="l" t="t" r="r" b="b"/>
            <a:pathLst>
              <a:path w="1181454" h="1181454">
                <a:moveTo>
                  <a:pt x="0" y="0"/>
                </a:moveTo>
                <a:lnTo>
                  <a:pt x="1181454" y="0"/>
                </a:lnTo>
                <a:lnTo>
                  <a:pt x="1181454" y="1181453"/>
                </a:lnTo>
                <a:lnTo>
                  <a:pt x="0" y="1181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809987" y="231491"/>
            <a:ext cx="8668026" cy="101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CUSTOMER PERSONAL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40941" y="2242519"/>
            <a:ext cx="5038901" cy="53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9"/>
              </a:lnSpc>
              <a:spcBef>
                <a:spcPct val="0"/>
              </a:spcBef>
            </a:pPr>
            <a:r>
              <a:rPr lang="en-US" sz="2842" b="1" spc="56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Persona A: Homeowner / Renter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40941" y="3054795"/>
            <a:ext cx="4822168" cy="574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Age</a:t>
            </a: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25–45 | Urban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Goals</a:t>
            </a: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Fast &amp; reliable service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Verified professionals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Fair pricing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Frustrations</a:t>
            </a: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Time wasted searching (2–3 hrs)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Fear of overcharging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 post-service accountability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Ethos</a:t>
            </a: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Willing to pay more for speed, trust &amp; convenience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Quote</a:t>
            </a: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3058"/>
              </a:lnSpc>
            </a:pPr>
            <a:r>
              <a:rPr lang="en-US" sz="2184" b="1" spc="43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“I need someone reliable — today, not next week.”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07688" y="2242519"/>
            <a:ext cx="5077539" cy="53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  <a:spcBef>
                <a:spcPct val="0"/>
              </a:spcBef>
            </a:pPr>
            <a:r>
              <a:rPr lang="en-US" sz="2850" b="1" spc="57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Persona B: Service Professional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95600" y="3079903"/>
            <a:ext cx="5486400" cy="5908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88"/>
              </a:lnSpc>
              <a:spcBef>
                <a:spcPct val="0"/>
              </a:spcBef>
            </a:pPr>
            <a:r>
              <a:rPr lang="en-US" sz="2134" b="1" spc="42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Age</a:t>
            </a:r>
            <a:r>
              <a:rPr lang="en-US" sz="2134" b="1" spc="42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25–45 | Electrician / Plumber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Goals</a:t>
            </a: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Steady income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More job opportunities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Build reputation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Frustrations</a:t>
            </a: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Irregular bookings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 job/payment management system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Income instability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Ethos</a:t>
            </a: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More jobs = more income | Better service = higher pay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Bio</a:t>
            </a: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: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Skilled worker seeking consistent jobs &amp; better earning opportunities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Quote</a:t>
            </a: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 b="1" spc="3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“I have the skills. I just need the right platform.”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916176" y="8872012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7417" y="8872012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645282" y="2541586"/>
            <a:ext cx="6860133" cy="6482826"/>
          </a:xfrm>
          <a:custGeom>
            <a:avLst/>
            <a:gdLst/>
            <a:ahLst/>
            <a:cxnLst/>
            <a:rect l="l" t="t" r="r" b="b"/>
            <a:pathLst>
              <a:path w="6860133" h="6482826">
                <a:moveTo>
                  <a:pt x="0" y="0"/>
                </a:moveTo>
                <a:lnTo>
                  <a:pt x="6860133" y="0"/>
                </a:lnTo>
                <a:lnTo>
                  <a:pt x="6860133" y="6482826"/>
                </a:lnTo>
                <a:lnTo>
                  <a:pt x="0" y="6482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988997" y="100679"/>
            <a:ext cx="4025894" cy="101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61858" y="1594703"/>
            <a:ext cx="4080173" cy="50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4"/>
              </a:lnSpc>
              <a:spcBef>
                <a:spcPct val="0"/>
              </a:spcBef>
            </a:pPr>
            <a:r>
              <a:rPr lang="en-US" sz="2945" b="1">
                <a:solidFill>
                  <a:srgbClr val="FEFEFE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OUR SOLUTION : MISTRO</a:t>
            </a:r>
          </a:p>
        </p:txBody>
      </p:sp>
      <p:sp>
        <p:nvSpPr>
          <p:cNvPr id="10" name="Freeform 10"/>
          <p:cNvSpPr/>
          <p:nvPr/>
        </p:nvSpPr>
        <p:spPr>
          <a:xfrm>
            <a:off x="9190189" y="3497730"/>
            <a:ext cx="6860133" cy="6482826"/>
          </a:xfrm>
          <a:custGeom>
            <a:avLst/>
            <a:gdLst/>
            <a:ahLst/>
            <a:cxnLst/>
            <a:rect l="l" t="t" r="r" b="b"/>
            <a:pathLst>
              <a:path w="6860133" h="6482826">
                <a:moveTo>
                  <a:pt x="0" y="0"/>
                </a:moveTo>
                <a:lnTo>
                  <a:pt x="6860134" y="0"/>
                </a:lnTo>
                <a:lnTo>
                  <a:pt x="6860134" y="6482826"/>
                </a:lnTo>
                <a:lnTo>
                  <a:pt x="0" y="6482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61881" y="3206257"/>
            <a:ext cx="4509730" cy="59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4"/>
              </a:lnSpc>
              <a:spcBef>
                <a:spcPct val="0"/>
              </a:spcBef>
            </a:pPr>
            <a:r>
              <a:rPr lang="en-US" sz="3117" b="1" spc="6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details of our offering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66590" y="4186573"/>
            <a:ext cx="5665969" cy="457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9496" lvl="1" indent="-189748" algn="l">
              <a:lnSpc>
                <a:spcPts val="2460"/>
              </a:lnSpc>
              <a:buFont typeface="Arial"/>
              <a:buChar char="•"/>
            </a:pPr>
            <a:r>
              <a:rPr lang="en-US" sz="1757" spc="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Simplified Access — One app to browse, compare, and book any home service in seconds</a:t>
            </a:r>
          </a:p>
          <a:p>
            <a:pPr marL="379496" lvl="1" indent="-189748" algn="l">
              <a:lnSpc>
                <a:spcPts val="2460"/>
              </a:lnSpc>
              <a:buFont typeface="Arial"/>
              <a:buChar char="•"/>
            </a:pPr>
            <a:r>
              <a:rPr lang="en-US" sz="1757" spc="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Efficient Scheduling — Real-time availability, flexible time slots, emergency same-day bookings</a:t>
            </a:r>
          </a:p>
          <a:p>
            <a:pPr marL="379496" lvl="1" indent="-189748" algn="l">
              <a:lnSpc>
                <a:spcPts val="2460"/>
              </a:lnSpc>
              <a:buFont typeface="Arial"/>
              <a:buChar char="•"/>
            </a:pPr>
            <a:r>
              <a:rPr lang="en-US" sz="1757" spc="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 Communication — In-app chat and call with your assigned professional before they arrive</a:t>
            </a:r>
          </a:p>
          <a:p>
            <a:pPr marL="379496" lvl="1" indent="-189748" algn="l">
              <a:lnSpc>
                <a:spcPts val="2460"/>
              </a:lnSpc>
              <a:buFont typeface="Arial"/>
              <a:buChar char="•"/>
            </a:pPr>
            <a:r>
              <a:rPr lang="en-US" sz="1757" spc="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Trust &amp; Transparency — Aadhaar-verified profiles, trade license checks, photo ID, dual reviews</a:t>
            </a:r>
          </a:p>
          <a:p>
            <a:pPr marL="379496" lvl="1" indent="-189748" algn="l">
              <a:lnSpc>
                <a:spcPts val="2460"/>
              </a:lnSpc>
              <a:buFont typeface="Arial"/>
              <a:buChar char="•"/>
            </a:pPr>
            <a:r>
              <a:rPr lang="en-US" sz="1757" spc="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Enhanced Management — Professionals manage jobs, track earnings, and build reputation — all in one place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63050" y="4262397"/>
            <a:ext cx="4634865" cy="46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1"/>
              </a:lnSpc>
              <a:spcBef>
                <a:spcPct val="0"/>
              </a:spcBef>
            </a:pPr>
            <a:r>
              <a:rPr lang="en-US" sz="2358" b="1" spc="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BENEFITS OF OUR 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65134" y="5209209"/>
            <a:ext cx="6058476" cy="446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6405" lvl="1" indent="-208202" algn="l">
              <a:lnSpc>
                <a:spcPts val="2700"/>
              </a:lnSpc>
              <a:buFont typeface="Arial"/>
              <a:buChar char="•"/>
            </a:pPr>
            <a:r>
              <a:rPr lang="en-US" sz="1928" spc="38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28" spc="38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Efficiency &amp; Convenience — From problem to booked professional in under 60 seconds</a:t>
            </a:r>
          </a:p>
          <a:p>
            <a:pPr marL="416405" lvl="1" indent="-208202" algn="l">
              <a:lnSpc>
                <a:spcPts val="2700"/>
              </a:lnSpc>
              <a:buFont typeface="Arial"/>
              <a:buChar char="•"/>
            </a:pPr>
            <a:r>
              <a:rPr lang="en-US" sz="1928" spc="38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Time-Saving — No more hours spent calling, comparing, and waiting for callbacks</a:t>
            </a:r>
          </a:p>
          <a:p>
            <a:pPr marL="416405" lvl="1" indent="-208202" algn="l">
              <a:lnSpc>
                <a:spcPts val="2700"/>
              </a:lnSpc>
              <a:buFont typeface="Arial"/>
              <a:buChar char="•"/>
            </a:pPr>
            <a:r>
              <a:rPr lang="en-US" sz="1928" spc="38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Improved Communication — Direct, transparent, in-app interaction before and during service</a:t>
            </a:r>
          </a:p>
          <a:p>
            <a:pPr marL="416405" lvl="1" indent="-208202" algn="l">
              <a:lnSpc>
                <a:spcPts val="2700"/>
              </a:lnSpc>
              <a:buFont typeface="Arial"/>
              <a:buChar char="•"/>
            </a:pPr>
            <a:r>
              <a:rPr lang="en-US" sz="1928" spc="38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Enhanced Trust — Every professional is government ID-verified before appearing on the platform</a:t>
            </a:r>
          </a:p>
          <a:p>
            <a:pPr marL="416405" lvl="1" indent="-208202" algn="l">
              <a:lnSpc>
                <a:spcPts val="2700"/>
              </a:lnSpc>
              <a:buFont typeface="Arial"/>
              <a:buChar char="•"/>
            </a:pPr>
            <a:r>
              <a:rPr lang="en-US" sz="1928" spc="38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Organised Scheduling — Real-time booking management for both customers and professionals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-834541" y="-469430"/>
            <a:ext cx="19988659" cy="11243621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" r="-1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1992" t="-57558" r="-56619" b="-7338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8334" b="-8711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713878" y="2499331"/>
            <a:ext cx="13089338" cy="7122119"/>
          </a:xfrm>
          <a:custGeom>
            <a:avLst/>
            <a:gdLst/>
            <a:ahLst/>
            <a:cxnLst/>
            <a:rect l="l" t="t" r="r" b="b"/>
            <a:pathLst>
              <a:path w="13089338" h="7122119">
                <a:moveTo>
                  <a:pt x="0" y="0"/>
                </a:moveTo>
                <a:lnTo>
                  <a:pt x="13089338" y="0"/>
                </a:lnTo>
                <a:lnTo>
                  <a:pt x="13089338" y="7122120"/>
                </a:lnTo>
                <a:lnTo>
                  <a:pt x="0" y="7122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00" t="-212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377219" y="1516704"/>
            <a:ext cx="1249765" cy="982628"/>
          </a:xfrm>
          <a:custGeom>
            <a:avLst/>
            <a:gdLst/>
            <a:ahLst/>
            <a:cxnLst/>
            <a:rect l="l" t="t" r="r" b="b"/>
            <a:pathLst>
              <a:path w="1249765" h="982628">
                <a:moveTo>
                  <a:pt x="0" y="0"/>
                </a:moveTo>
                <a:lnTo>
                  <a:pt x="1249765" y="0"/>
                </a:lnTo>
                <a:lnTo>
                  <a:pt x="1249765" y="982627"/>
                </a:lnTo>
                <a:lnTo>
                  <a:pt x="0" y="982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665628" y="238316"/>
            <a:ext cx="4956743" cy="89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4"/>
              </a:lnSpc>
            </a:pPr>
            <a:r>
              <a:rPr lang="en-US" sz="4824" b="1" spc="96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COMPETITORS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4702552" y="-82553"/>
            <a:ext cx="8882896" cy="201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PROTOTYPE OVERVIEW</a:t>
            </a:r>
          </a:p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MISTRO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316EB1-28FB-3127-92AC-D7CABCDDC4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9"/>
          <a:stretch>
            <a:fillRect/>
          </a:stretch>
        </p:blipFill>
        <p:spPr>
          <a:xfrm>
            <a:off x="93451" y="2705100"/>
            <a:ext cx="8509518" cy="4343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1567716-EAE7-B220-79BF-16E24E45CC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8"/>
          <a:stretch>
            <a:fillRect/>
          </a:stretch>
        </p:blipFill>
        <p:spPr>
          <a:xfrm>
            <a:off x="8915400" y="2682853"/>
            <a:ext cx="8768790" cy="43889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6197485" y="-12193"/>
            <a:ext cx="6156295" cy="1536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PROTOTYPE</a:t>
            </a:r>
          </a:p>
          <a:p>
            <a:pPr algn="l">
              <a:lnSpc>
                <a:spcPts val="4479"/>
              </a:lnSpc>
            </a:pPr>
            <a:endParaRPr lang="en-US" sz="3199" spc="63" dirty="0">
              <a:solidFill>
                <a:srgbClr val="000000"/>
              </a:solidFill>
              <a:latin typeface="Archive"/>
              <a:ea typeface="Archive"/>
              <a:cs typeface="Archive"/>
              <a:sym typeface="Archive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DA17AB-B123-8BD7-6495-E72331171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80"/>
          <a:stretch>
            <a:fillRect/>
          </a:stretch>
        </p:blipFill>
        <p:spPr>
          <a:xfrm>
            <a:off x="74116" y="3110384"/>
            <a:ext cx="9316887" cy="42459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48501E-2F60-9CF9-3150-19FB21605B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/>
          <a:stretch>
            <a:fillRect/>
          </a:stretch>
        </p:blipFill>
        <p:spPr>
          <a:xfrm>
            <a:off x="9601200" y="3110384"/>
            <a:ext cx="8488101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4518540" y="92069"/>
            <a:ext cx="10225920" cy="104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PROTOTYPE OVERVIEW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E1947F-36AD-FF1F-949E-53406D93A2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93" t="10438" r="1193" b="-1919"/>
          <a:stretch>
            <a:fillRect/>
          </a:stretch>
        </p:blipFill>
        <p:spPr>
          <a:xfrm>
            <a:off x="26158" y="2800350"/>
            <a:ext cx="9106980" cy="4686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B248EDC-49FE-1D1A-78D6-587EBF1BCA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>
          <a:xfrm>
            <a:off x="9154864" y="2800350"/>
            <a:ext cx="8991600" cy="45519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805857" y="2065589"/>
            <a:ext cx="7756273" cy="6638439"/>
          </a:xfrm>
          <a:custGeom>
            <a:avLst/>
            <a:gdLst/>
            <a:ahLst/>
            <a:cxnLst/>
            <a:rect l="l" t="t" r="r" b="b"/>
            <a:pathLst>
              <a:path w="7756273" h="6638439">
                <a:moveTo>
                  <a:pt x="0" y="0"/>
                </a:moveTo>
                <a:lnTo>
                  <a:pt x="7756274" y="0"/>
                </a:lnTo>
                <a:lnTo>
                  <a:pt x="7756274" y="6638439"/>
                </a:lnTo>
                <a:lnTo>
                  <a:pt x="0" y="6638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9741" r="-20054" b="-41360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17945" y="3786192"/>
            <a:ext cx="558469" cy="558469"/>
          </a:xfrm>
          <a:custGeom>
            <a:avLst/>
            <a:gdLst/>
            <a:ahLst/>
            <a:cxnLst/>
            <a:rect l="l" t="t" r="r" b="b"/>
            <a:pathLst>
              <a:path w="558469" h="558469">
                <a:moveTo>
                  <a:pt x="0" y="0"/>
                </a:moveTo>
                <a:lnTo>
                  <a:pt x="558469" y="0"/>
                </a:lnTo>
                <a:lnTo>
                  <a:pt x="558469" y="558469"/>
                </a:lnTo>
                <a:lnTo>
                  <a:pt x="0" y="5584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417945" y="2501714"/>
            <a:ext cx="558596" cy="628277"/>
          </a:xfrm>
          <a:custGeom>
            <a:avLst/>
            <a:gdLst/>
            <a:ahLst/>
            <a:cxnLst/>
            <a:rect l="l" t="t" r="r" b="b"/>
            <a:pathLst>
              <a:path w="558596" h="628277">
                <a:moveTo>
                  <a:pt x="0" y="0"/>
                </a:moveTo>
                <a:lnTo>
                  <a:pt x="558595" y="0"/>
                </a:lnTo>
                <a:lnTo>
                  <a:pt x="558595" y="628277"/>
                </a:lnTo>
                <a:lnTo>
                  <a:pt x="0" y="628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6258755" y="7818911"/>
            <a:ext cx="717658" cy="698086"/>
          </a:xfrm>
          <a:custGeom>
            <a:avLst/>
            <a:gdLst/>
            <a:ahLst/>
            <a:cxnLst/>
            <a:rect l="l" t="t" r="r" b="b"/>
            <a:pathLst>
              <a:path w="717658" h="698086">
                <a:moveTo>
                  <a:pt x="0" y="0"/>
                </a:moveTo>
                <a:lnTo>
                  <a:pt x="717659" y="0"/>
                </a:lnTo>
                <a:lnTo>
                  <a:pt x="717659" y="698086"/>
                </a:lnTo>
                <a:lnTo>
                  <a:pt x="0" y="698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6318119" y="5000861"/>
            <a:ext cx="758121" cy="767895"/>
          </a:xfrm>
          <a:custGeom>
            <a:avLst/>
            <a:gdLst/>
            <a:ahLst/>
            <a:cxnLst/>
            <a:rect l="l" t="t" r="r" b="b"/>
            <a:pathLst>
              <a:path w="758121" h="767895">
                <a:moveTo>
                  <a:pt x="0" y="0"/>
                </a:moveTo>
                <a:lnTo>
                  <a:pt x="758121" y="0"/>
                </a:lnTo>
                <a:lnTo>
                  <a:pt x="758121" y="767895"/>
                </a:lnTo>
                <a:lnTo>
                  <a:pt x="0" y="767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291748" y="6421499"/>
            <a:ext cx="784492" cy="650415"/>
          </a:xfrm>
          <a:custGeom>
            <a:avLst/>
            <a:gdLst/>
            <a:ahLst/>
            <a:cxnLst/>
            <a:rect l="l" t="t" r="r" b="b"/>
            <a:pathLst>
              <a:path w="784492" h="650415">
                <a:moveTo>
                  <a:pt x="0" y="0"/>
                </a:moveTo>
                <a:lnTo>
                  <a:pt x="784492" y="0"/>
                </a:lnTo>
                <a:lnTo>
                  <a:pt x="784492" y="650415"/>
                </a:lnTo>
                <a:lnTo>
                  <a:pt x="0" y="650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665307" y="2005235"/>
            <a:ext cx="4277294" cy="1042170"/>
            <a:chOff x="0" y="0"/>
            <a:chExt cx="3335909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35909" cy="812800"/>
            </a:xfrm>
            <a:custGeom>
              <a:avLst/>
              <a:gdLst/>
              <a:ahLst/>
              <a:cxnLst/>
              <a:rect l="l" t="t" r="r" b="b"/>
              <a:pathLst>
                <a:path w="3335909" h="812800">
                  <a:moveTo>
                    <a:pt x="333590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335909" y="624840"/>
                  </a:lnTo>
                  <a:lnTo>
                    <a:pt x="3335909" y="0"/>
                  </a:lnTo>
                  <a:close/>
                </a:path>
              </a:pathLst>
            </a:custGeom>
            <a:solidFill>
              <a:srgbClr val="292F5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3335909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TARGET MARKET : 8,00,000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02125" y="3527619"/>
            <a:ext cx="4920012" cy="1075614"/>
            <a:chOff x="0" y="0"/>
            <a:chExt cx="3717863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17863" cy="812800"/>
            </a:xfrm>
            <a:custGeom>
              <a:avLst/>
              <a:gdLst/>
              <a:ahLst/>
              <a:cxnLst/>
              <a:rect l="l" t="t" r="r" b="b"/>
              <a:pathLst>
                <a:path w="3717863" h="812800">
                  <a:moveTo>
                    <a:pt x="371786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717863" y="624840"/>
                  </a:lnTo>
                  <a:lnTo>
                    <a:pt x="3717863" y="0"/>
                  </a:lnTo>
                  <a:close/>
                </a:path>
              </a:pathLst>
            </a:custGeom>
            <a:solidFill>
              <a:srgbClr val="016A9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717863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LEADS : 3,00,000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29089" y="4780937"/>
            <a:ext cx="4920012" cy="1075614"/>
            <a:chOff x="0" y="0"/>
            <a:chExt cx="3717863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17863" cy="812800"/>
            </a:xfrm>
            <a:custGeom>
              <a:avLst/>
              <a:gdLst/>
              <a:ahLst/>
              <a:cxnLst/>
              <a:rect l="l" t="t" r="r" b="b"/>
              <a:pathLst>
                <a:path w="3717863" h="812800">
                  <a:moveTo>
                    <a:pt x="371786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717863" y="624840"/>
                  </a:lnTo>
                  <a:lnTo>
                    <a:pt x="3717863" y="0"/>
                  </a:lnTo>
                  <a:close/>
                </a:path>
              </a:pathLst>
            </a:custGeom>
            <a:solidFill>
              <a:srgbClr val="00889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717863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OPPURTUNITIES : 80,000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562131" y="7381283"/>
            <a:ext cx="4920012" cy="1077957"/>
            <a:chOff x="0" y="0"/>
            <a:chExt cx="3717863" cy="8145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717863" cy="814570"/>
            </a:xfrm>
            <a:custGeom>
              <a:avLst/>
              <a:gdLst/>
              <a:ahLst/>
              <a:cxnLst/>
              <a:rect l="l" t="t" r="r" b="b"/>
              <a:pathLst>
                <a:path w="3717863" h="814570">
                  <a:moveTo>
                    <a:pt x="3717863" y="0"/>
                  </a:moveTo>
                  <a:lnTo>
                    <a:pt x="0" y="0"/>
                  </a:lnTo>
                  <a:lnTo>
                    <a:pt x="0" y="626610"/>
                  </a:lnTo>
                  <a:lnTo>
                    <a:pt x="157480" y="626610"/>
                  </a:lnTo>
                  <a:lnTo>
                    <a:pt x="157480" y="814570"/>
                  </a:lnTo>
                  <a:lnTo>
                    <a:pt x="463550" y="626610"/>
                  </a:lnTo>
                  <a:lnTo>
                    <a:pt x="3717863" y="626610"/>
                  </a:lnTo>
                  <a:lnTo>
                    <a:pt x="3717863" y="0"/>
                  </a:lnTo>
                  <a:close/>
                </a:path>
              </a:pathLst>
            </a:custGeom>
            <a:solidFill>
              <a:srgbClr val="ACFA7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3717863" cy="67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Sustainable Ag</a:t>
              </a:r>
              <a:r>
                <a:rPr lang="en-US" sz="2199" b="1" u="none" strike="noStrike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reements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803954" y="6079939"/>
            <a:ext cx="4920012" cy="1077957"/>
            <a:chOff x="0" y="0"/>
            <a:chExt cx="3717863" cy="81457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17863" cy="814570"/>
            </a:xfrm>
            <a:custGeom>
              <a:avLst/>
              <a:gdLst/>
              <a:ahLst/>
              <a:cxnLst/>
              <a:rect l="l" t="t" r="r" b="b"/>
              <a:pathLst>
                <a:path w="3717863" h="814570">
                  <a:moveTo>
                    <a:pt x="3717863" y="0"/>
                  </a:moveTo>
                  <a:lnTo>
                    <a:pt x="0" y="0"/>
                  </a:lnTo>
                  <a:lnTo>
                    <a:pt x="0" y="626610"/>
                  </a:lnTo>
                  <a:lnTo>
                    <a:pt x="157480" y="626610"/>
                  </a:lnTo>
                  <a:lnTo>
                    <a:pt x="157480" y="814570"/>
                  </a:lnTo>
                  <a:lnTo>
                    <a:pt x="463550" y="626610"/>
                  </a:lnTo>
                  <a:lnTo>
                    <a:pt x="3717863" y="626610"/>
                  </a:lnTo>
                  <a:lnTo>
                    <a:pt x="3717863" y="0"/>
                  </a:lnTo>
                  <a:close/>
                </a:path>
              </a:pathLst>
            </a:custGeom>
            <a:solidFill>
              <a:srgbClr val="02C79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3717863" cy="67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CUSTOMERS : 40,000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191070" y="191910"/>
            <a:ext cx="4641428" cy="101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SALES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7191070" y="191910"/>
            <a:ext cx="4641428" cy="101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SALES PLAN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464197" y="3388458"/>
            <a:ext cx="2826820" cy="1618305"/>
            <a:chOff x="0" y="0"/>
            <a:chExt cx="512493" cy="2933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5,00,000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87530" y="3388458"/>
            <a:ext cx="2551123" cy="1618305"/>
            <a:chOff x="0" y="0"/>
            <a:chExt cx="462510" cy="2933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510" cy="293393"/>
            </a:xfrm>
            <a:custGeom>
              <a:avLst/>
              <a:gdLst/>
              <a:ahLst/>
              <a:cxnLst/>
              <a:rect l="l" t="t" r="r" b="b"/>
              <a:pathLst>
                <a:path w="462510" h="293393">
                  <a:moveTo>
                    <a:pt x="42486" y="0"/>
                  </a:moveTo>
                  <a:lnTo>
                    <a:pt x="420024" y="0"/>
                  </a:lnTo>
                  <a:cubicBezTo>
                    <a:pt x="443488" y="0"/>
                    <a:pt x="462510" y="19022"/>
                    <a:pt x="462510" y="42486"/>
                  </a:cubicBezTo>
                  <a:lnTo>
                    <a:pt x="462510" y="250907"/>
                  </a:lnTo>
                  <a:cubicBezTo>
                    <a:pt x="462510" y="262175"/>
                    <a:pt x="458033" y="272982"/>
                    <a:pt x="450066" y="280949"/>
                  </a:cubicBezTo>
                  <a:cubicBezTo>
                    <a:pt x="442098" y="288917"/>
                    <a:pt x="431292" y="293393"/>
                    <a:pt x="420024" y="293393"/>
                  </a:cubicBezTo>
                  <a:lnTo>
                    <a:pt x="42486" y="293393"/>
                  </a:lnTo>
                  <a:cubicBezTo>
                    <a:pt x="31218" y="293393"/>
                    <a:pt x="20412" y="288917"/>
                    <a:pt x="12444" y="280949"/>
                  </a:cubicBezTo>
                  <a:cubicBezTo>
                    <a:pt x="4476" y="272982"/>
                    <a:pt x="0" y="262175"/>
                    <a:pt x="0" y="250907"/>
                  </a:cubicBezTo>
                  <a:lnTo>
                    <a:pt x="0" y="42486"/>
                  </a:lnTo>
                  <a:cubicBezTo>
                    <a:pt x="0" y="31218"/>
                    <a:pt x="4476" y="20412"/>
                    <a:pt x="12444" y="12444"/>
                  </a:cubicBezTo>
                  <a:cubicBezTo>
                    <a:pt x="20412" y="4476"/>
                    <a:pt x="31218" y="0"/>
                    <a:pt x="42486" y="0"/>
                  </a:cubicBezTo>
                  <a:close/>
                </a:path>
              </a:pathLst>
            </a:custGeom>
            <a:solidFill>
              <a:srgbClr val="57E11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62510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Urban Homeowners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64197" y="5101197"/>
            <a:ext cx="2826820" cy="1618305"/>
            <a:chOff x="0" y="0"/>
            <a:chExt cx="512493" cy="2933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3,00,000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687530" y="5101197"/>
            <a:ext cx="2551123" cy="1618305"/>
            <a:chOff x="0" y="0"/>
            <a:chExt cx="462510" cy="2933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2510" cy="293393"/>
            </a:xfrm>
            <a:custGeom>
              <a:avLst/>
              <a:gdLst/>
              <a:ahLst/>
              <a:cxnLst/>
              <a:rect l="l" t="t" r="r" b="b"/>
              <a:pathLst>
                <a:path w="462510" h="293393">
                  <a:moveTo>
                    <a:pt x="42486" y="0"/>
                  </a:moveTo>
                  <a:lnTo>
                    <a:pt x="420024" y="0"/>
                  </a:lnTo>
                  <a:cubicBezTo>
                    <a:pt x="443488" y="0"/>
                    <a:pt x="462510" y="19022"/>
                    <a:pt x="462510" y="42486"/>
                  </a:cubicBezTo>
                  <a:lnTo>
                    <a:pt x="462510" y="250907"/>
                  </a:lnTo>
                  <a:cubicBezTo>
                    <a:pt x="462510" y="262175"/>
                    <a:pt x="458033" y="272982"/>
                    <a:pt x="450066" y="280949"/>
                  </a:cubicBezTo>
                  <a:cubicBezTo>
                    <a:pt x="442098" y="288917"/>
                    <a:pt x="431292" y="293393"/>
                    <a:pt x="420024" y="293393"/>
                  </a:cubicBezTo>
                  <a:lnTo>
                    <a:pt x="42486" y="293393"/>
                  </a:lnTo>
                  <a:cubicBezTo>
                    <a:pt x="31218" y="293393"/>
                    <a:pt x="20412" y="288917"/>
                    <a:pt x="12444" y="280949"/>
                  </a:cubicBezTo>
                  <a:cubicBezTo>
                    <a:pt x="4476" y="272982"/>
                    <a:pt x="0" y="262175"/>
                    <a:pt x="0" y="250907"/>
                  </a:cubicBezTo>
                  <a:lnTo>
                    <a:pt x="0" y="42486"/>
                  </a:lnTo>
                  <a:cubicBezTo>
                    <a:pt x="0" y="31218"/>
                    <a:pt x="4476" y="20412"/>
                    <a:pt x="12444" y="12444"/>
                  </a:cubicBezTo>
                  <a:cubicBezTo>
                    <a:pt x="20412" y="4476"/>
                    <a:pt x="31218" y="0"/>
                    <a:pt x="42486" y="0"/>
                  </a:cubicBezTo>
                  <a:close/>
                </a:path>
              </a:pathLst>
            </a:custGeom>
            <a:solidFill>
              <a:srgbClr val="027B8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462510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Rural Homeowners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422562" y="3388458"/>
            <a:ext cx="2826820" cy="1618305"/>
            <a:chOff x="0" y="0"/>
            <a:chExt cx="512493" cy="2933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12493" cy="331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Social media ads, Google SEO, local business partnerships, digital campaigns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422562" y="5101197"/>
            <a:ext cx="2826820" cy="1618305"/>
            <a:chOff x="0" y="0"/>
            <a:chExt cx="512493" cy="29339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WhatsApp marketing, community outreach, local stores, community events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80926" y="3388458"/>
            <a:ext cx="2826820" cy="1618305"/>
            <a:chOff x="0" y="0"/>
            <a:chExt cx="512493" cy="29339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1,50,000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380926" y="5101197"/>
            <a:ext cx="2826820" cy="1618305"/>
            <a:chOff x="0" y="0"/>
            <a:chExt cx="512493" cy="2933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50,000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464197" y="6813936"/>
            <a:ext cx="2826820" cy="1618305"/>
            <a:chOff x="0" y="0"/>
            <a:chExt cx="512493" cy="29339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40,000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87530" y="6813936"/>
            <a:ext cx="2551123" cy="1618305"/>
            <a:chOff x="0" y="0"/>
            <a:chExt cx="462510" cy="29339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2510" cy="293393"/>
            </a:xfrm>
            <a:custGeom>
              <a:avLst/>
              <a:gdLst/>
              <a:ahLst/>
              <a:cxnLst/>
              <a:rect l="l" t="t" r="r" b="b"/>
              <a:pathLst>
                <a:path w="462510" h="293393">
                  <a:moveTo>
                    <a:pt x="42486" y="0"/>
                  </a:moveTo>
                  <a:lnTo>
                    <a:pt x="420024" y="0"/>
                  </a:lnTo>
                  <a:cubicBezTo>
                    <a:pt x="443488" y="0"/>
                    <a:pt x="462510" y="19022"/>
                    <a:pt x="462510" y="42486"/>
                  </a:cubicBezTo>
                  <a:lnTo>
                    <a:pt x="462510" y="250907"/>
                  </a:lnTo>
                  <a:cubicBezTo>
                    <a:pt x="462510" y="262175"/>
                    <a:pt x="458033" y="272982"/>
                    <a:pt x="450066" y="280949"/>
                  </a:cubicBezTo>
                  <a:cubicBezTo>
                    <a:pt x="442098" y="288917"/>
                    <a:pt x="431292" y="293393"/>
                    <a:pt x="420024" y="293393"/>
                  </a:cubicBezTo>
                  <a:lnTo>
                    <a:pt x="42486" y="293393"/>
                  </a:lnTo>
                  <a:cubicBezTo>
                    <a:pt x="31218" y="293393"/>
                    <a:pt x="20412" y="288917"/>
                    <a:pt x="12444" y="280949"/>
                  </a:cubicBezTo>
                  <a:cubicBezTo>
                    <a:pt x="4476" y="272982"/>
                    <a:pt x="0" y="262175"/>
                    <a:pt x="0" y="250907"/>
                  </a:cubicBezTo>
                  <a:lnTo>
                    <a:pt x="0" y="42486"/>
                  </a:lnTo>
                  <a:cubicBezTo>
                    <a:pt x="0" y="31218"/>
                    <a:pt x="4476" y="20412"/>
                    <a:pt x="12444" y="12444"/>
                  </a:cubicBezTo>
                  <a:cubicBezTo>
                    <a:pt x="20412" y="4476"/>
                    <a:pt x="31218" y="0"/>
                    <a:pt x="42486" y="0"/>
                  </a:cubicBezTo>
                  <a:close/>
                </a:path>
              </a:pathLst>
            </a:custGeom>
            <a:solidFill>
              <a:srgbClr val="00425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462510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Service Providers (Urban + Rural)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22562" y="6813936"/>
            <a:ext cx="2826820" cy="1618305"/>
            <a:chOff x="0" y="0"/>
            <a:chExt cx="512493" cy="29339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r>
                <a:rPr lang="en-US" sz="16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Trade community outreach, ITI/Polytechnic partnerships, referral incentives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380926" y="6813936"/>
            <a:ext cx="2826820" cy="1618305"/>
            <a:chOff x="0" y="0"/>
            <a:chExt cx="512493" cy="29339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10,000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464197" y="2247592"/>
            <a:ext cx="2826820" cy="1044005"/>
            <a:chOff x="0" y="0"/>
            <a:chExt cx="1100396" cy="406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00396" cy="406400"/>
            </a:xfrm>
            <a:custGeom>
              <a:avLst/>
              <a:gdLst/>
              <a:ahLst/>
              <a:cxnLst/>
              <a:rect l="l" t="t" r="r" b="b"/>
              <a:pathLst>
                <a:path w="1100396" h="406400">
                  <a:moveTo>
                    <a:pt x="897196" y="0"/>
                  </a:moveTo>
                  <a:cubicBezTo>
                    <a:pt x="1009421" y="0"/>
                    <a:pt x="1100396" y="90976"/>
                    <a:pt x="1100396" y="203200"/>
                  </a:cubicBezTo>
                  <a:cubicBezTo>
                    <a:pt x="1100396" y="315424"/>
                    <a:pt x="1009421" y="406400"/>
                    <a:pt x="897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7E11C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100396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Target Number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422562" y="2247592"/>
            <a:ext cx="2826820" cy="1044005"/>
            <a:chOff x="0" y="0"/>
            <a:chExt cx="1100396" cy="406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00396" cy="406400"/>
            </a:xfrm>
            <a:custGeom>
              <a:avLst/>
              <a:gdLst/>
              <a:ahLst/>
              <a:cxnLst/>
              <a:rect l="l" t="t" r="r" b="b"/>
              <a:pathLst>
                <a:path w="1100396" h="406400">
                  <a:moveTo>
                    <a:pt x="897196" y="0"/>
                  </a:moveTo>
                  <a:cubicBezTo>
                    <a:pt x="1009421" y="0"/>
                    <a:pt x="1100396" y="90976"/>
                    <a:pt x="1100396" y="203200"/>
                  </a:cubicBezTo>
                  <a:cubicBezTo>
                    <a:pt x="1100396" y="315424"/>
                    <a:pt x="1009421" y="406400"/>
                    <a:pt x="897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C367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1100396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Channel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380926" y="2247592"/>
            <a:ext cx="2826820" cy="1044005"/>
            <a:chOff x="0" y="0"/>
            <a:chExt cx="1100396" cy="406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00396" cy="406400"/>
            </a:xfrm>
            <a:custGeom>
              <a:avLst/>
              <a:gdLst/>
              <a:ahLst/>
              <a:cxnLst/>
              <a:rect l="l" t="t" r="r" b="b"/>
              <a:pathLst>
                <a:path w="1100396" h="406400">
                  <a:moveTo>
                    <a:pt x="897196" y="0"/>
                  </a:moveTo>
                  <a:cubicBezTo>
                    <a:pt x="1009421" y="0"/>
                    <a:pt x="1100396" y="90976"/>
                    <a:pt x="1100396" y="203200"/>
                  </a:cubicBezTo>
                  <a:cubicBezTo>
                    <a:pt x="1100396" y="315424"/>
                    <a:pt x="1009421" y="406400"/>
                    <a:pt x="897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7B80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100396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EST Lead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16687" y="3565647"/>
            <a:ext cx="1263926" cy="1263926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E11B"/>
            </a:solidFill>
            <a:ln w="114300" cap="sq">
              <a:solidFill>
                <a:srgbClr val="F0F3FA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716687" y="5278387"/>
            <a:ext cx="1263926" cy="1263926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80"/>
            </a:solidFill>
            <a:ln w="114300" cap="sq">
              <a:solidFill>
                <a:srgbClr val="F0F3FA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716687" y="6991126"/>
            <a:ext cx="1263926" cy="1263926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259"/>
            </a:solidFill>
            <a:ln w="114300" cap="sq">
              <a:solidFill>
                <a:srgbClr val="F0F3FA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>
            <a:off x="2087911" y="3936871"/>
            <a:ext cx="521479" cy="521479"/>
          </a:xfrm>
          <a:custGeom>
            <a:avLst/>
            <a:gdLst/>
            <a:ahLst/>
            <a:cxnLst/>
            <a:rect l="l" t="t" r="r" b="b"/>
            <a:pathLst>
              <a:path w="521479" h="521479">
                <a:moveTo>
                  <a:pt x="0" y="0"/>
                </a:moveTo>
                <a:lnTo>
                  <a:pt x="521479" y="0"/>
                </a:lnTo>
                <a:lnTo>
                  <a:pt x="521479" y="521479"/>
                </a:lnTo>
                <a:lnTo>
                  <a:pt x="0" y="5214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3" name="Freeform 63"/>
          <p:cNvSpPr/>
          <p:nvPr/>
        </p:nvSpPr>
        <p:spPr>
          <a:xfrm>
            <a:off x="2087911" y="5618570"/>
            <a:ext cx="521479" cy="521479"/>
          </a:xfrm>
          <a:custGeom>
            <a:avLst/>
            <a:gdLst/>
            <a:ahLst/>
            <a:cxnLst/>
            <a:rect l="l" t="t" r="r" b="b"/>
            <a:pathLst>
              <a:path w="521479" h="521479">
                <a:moveTo>
                  <a:pt x="0" y="0"/>
                </a:moveTo>
                <a:lnTo>
                  <a:pt x="521479" y="0"/>
                </a:lnTo>
                <a:lnTo>
                  <a:pt x="521479" y="521480"/>
                </a:lnTo>
                <a:lnTo>
                  <a:pt x="0" y="521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4" name="Freeform 64"/>
          <p:cNvSpPr/>
          <p:nvPr/>
        </p:nvSpPr>
        <p:spPr>
          <a:xfrm>
            <a:off x="2087911" y="7360075"/>
            <a:ext cx="521479" cy="521479"/>
          </a:xfrm>
          <a:custGeom>
            <a:avLst/>
            <a:gdLst/>
            <a:ahLst/>
            <a:cxnLst/>
            <a:rect l="l" t="t" r="r" b="b"/>
            <a:pathLst>
              <a:path w="521479" h="521479">
                <a:moveTo>
                  <a:pt x="0" y="0"/>
                </a:moveTo>
                <a:lnTo>
                  <a:pt x="521479" y="0"/>
                </a:lnTo>
                <a:lnTo>
                  <a:pt x="521479" y="521480"/>
                </a:lnTo>
                <a:lnTo>
                  <a:pt x="0" y="521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5" name="Group 65"/>
          <p:cNvGrpSpPr/>
          <p:nvPr/>
        </p:nvGrpSpPr>
        <p:grpSpPr>
          <a:xfrm>
            <a:off x="14341096" y="2247592"/>
            <a:ext cx="2826820" cy="1044005"/>
            <a:chOff x="0" y="0"/>
            <a:chExt cx="1100396" cy="406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00396" cy="406400"/>
            </a:xfrm>
            <a:custGeom>
              <a:avLst/>
              <a:gdLst/>
              <a:ahLst/>
              <a:cxnLst/>
              <a:rect l="l" t="t" r="r" b="b"/>
              <a:pathLst>
                <a:path w="1100396" h="406400">
                  <a:moveTo>
                    <a:pt x="897196" y="0"/>
                  </a:moveTo>
                  <a:cubicBezTo>
                    <a:pt x="1009421" y="0"/>
                    <a:pt x="1100396" y="90976"/>
                    <a:pt x="1100396" y="203200"/>
                  </a:cubicBezTo>
                  <a:cubicBezTo>
                    <a:pt x="1100396" y="315424"/>
                    <a:pt x="1009421" y="406400"/>
                    <a:pt x="897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C79D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1100396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EFEFE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Conversion Cost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341096" y="3388458"/>
            <a:ext cx="2826820" cy="1618305"/>
            <a:chOff x="0" y="0"/>
            <a:chExt cx="512493" cy="29339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Moderate — digital marketing focused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4341096" y="5143500"/>
            <a:ext cx="2826820" cy="1618305"/>
            <a:chOff x="0" y="0"/>
            <a:chExt cx="512493" cy="29339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Low-moderate — community-based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283946" y="6813936"/>
            <a:ext cx="2826820" cy="1618305"/>
            <a:chOff x="0" y="0"/>
            <a:chExt cx="512493" cy="293393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12493" cy="293393"/>
            </a:xfrm>
            <a:custGeom>
              <a:avLst/>
              <a:gdLst/>
              <a:ahLst/>
              <a:cxnLst/>
              <a:rect l="l" t="t" r="r" b="b"/>
              <a:pathLst>
                <a:path w="512493" h="293393">
                  <a:moveTo>
                    <a:pt x="38342" y="0"/>
                  </a:moveTo>
                  <a:lnTo>
                    <a:pt x="474150" y="0"/>
                  </a:lnTo>
                  <a:cubicBezTo>
                    <a:pt x="495326" y="0"/>
                    <a:pt x="512493" y="17166"/>
                    <a:pt x="512493" y="38342"/>
                  </a:cubicBezTo>
                  <a:lnTo>
                    <a:pt x="512493" y="255051"/>
                  </a:lnTo>
                  <a:cubicBezTo>
                    <a:pt x="512493" y="265220"/>
                    <a:pt x="508453" y="274972"/>
                    <a:pt x="501262" y="282163"/>
                  </a:cubicBezTo>
                  <a:cubicBezTo>
                    <a:pt x="494072" y="289353"/>
                    <a:pt x="484319" y="293393"/>
                    <a:pt x="474150" y="293393"/>
                  </a:cubicBezTo>
                  <a:lnTo>
                    <a:pt x="38342" y="293393"/>
                  </a:lnTo>
                  <a:cubicBezTo>
                    <a:pt x="17166" y="293393"/>
                    <a:pt x="0" y="276227"/>
                    <a:pt x="0" y="255051"/>
                  </a:cubicBezTo>
                  <a:lnTo>
                    <a:pt x="0" y="38342"/>
                  </a:lnTo>
                  <a:cubicBezTo>
                    <a:pt x="0" y="17166"/>
                    <a:pt x="17166" y="0"/>
                    <a:pt x="383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512493" cy="32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Low — referral and local partnership focused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879877" y="4621044"/>
            <a:ext cx="5067431" cy="675219"/>
            <a:chOff x="0" y="0"/>
            <a:chExt cx="1260822" cy="1680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0822" cy="168001"/>
            </a:xfrm>
            <a:custGeom>
              <a:avLst/>
              <a:gdLst/>
              <a:ahLst/>
              <a:cxnLst/>
              <a:rect l="l" t="t" r="r" b="b"/>
              <a:pathLst>
                <a:path w="1260822" h="168001">
                  <a:moveTo>
                    <a:pt x="84000" y="0"/>
                  </a:moveTo>
                  <a:lnTo>
                    <a:pt x="1176822" y="0"/>
                  </a:lnTo>
                  <a:cubicBezTo>
                    <a:pt x="1223214" y="0"/>
                    <a:pt x="1260822" y="37608"/>
                    <a:pt x="1260822" y="84000"/>
                  </a:cubicBezTo>
                  <a:lnTo>
                    <a:pt x="1260822" y="84000"/>
                  </a:lnTo>
                  <a:cubicBezTo>
                    <a:pt x="1260822" y="130392"/>
                    <a:pt x="1223214" y="168001"/>
                    <a:pt x="1176822" y="168001"/>
                  </a:cubicBezTo>
                  <a:lnTo>
                    <a:pt x="84000" y="168001"/>
                  </a:lnTo>
                  <a:cubicBezTo>
                    <a:pt x="37608" y="168001"/>
                    <a:pt x="0" y="130392"/>
                    <a:pt x="0" y="84000"/>
                  </a:cubicBezTo>
                  <a:lnTo>
                    <a:pt x="0" y="84000"/>
                  </a:lnTo>
                  <a:cubicBezTo>
                    <a:pt x="0" y="37608"/>
                    <a:pt x="37608" y="0"/>
                    <a:pt x="84000" y="0"/>
                  </a:cubicBezTo>
                  <a:close/>
                </a:path>
              </a:pathLst>
            </a:custGeom>
            <a:solidFill>
              <a:srgbClr val="1B689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260822" cy="196576"/>
            </a:xfrm>
            <a:prstGeom prst="rect">
              <a:avLst/>
            </a:prstGeom>
          </p:spPr>
          <p:txBody>
            <a:bodyPr lIns="53774" tIns="53774" rIns="53774" bIns="53774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244344" y="4017203"/>
            <a:ext cx="1271066" cy="1279060"/>
          </a:xfrm>
          <a:custGeom>
            <a:avLst/>
            <a:gdLst/>
            <a:ahLst/>
            <a:cxnLst/>
            <a:rect l="l" t="t" r="r" b="b"/>
            <a:pathLst>
              <a:path w="1271066" h="1279060">
                <a:moveTo>
                  <a:pt x="0" y="0"/>
                </a:moveTo>
                <a:lnTo>
                  <a:pt x="1271066" y="0"/>
                </a:lnTo>
                <a:lnTo>
                  <a:pt x="1271066" y="1279060"/>
                </a:lnTo>
                <a:lnTo>
                  <a:pt x="0" y="1279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928051" y="6343848"/>
            <a:ext cx="5067431" cy="675219"/>
            <a:chOff x="0" y="0"/>
            <a:chExt cx="1260822" cy="1680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0822" cy="168001"/>
            </a:xfrm>
            <a:custGeom>
              <a:avLst/>
              <a:gdLst/>
              <a:ahLst/>
              <a:cxnLst/>
              <a:rect l="l" t="t" r="r" b="b"/>
              <a:pathLst>
                <a:path w="1260822" h="168001">
                  <a:moveTo>
                    <a:pt x="84000" y="0"/>
                  </a:moveTo>
                  <a:lnTo>
                    <a:pt x="1176822" y="0"/>
                  </a:lnTo>
                  <a:cubicBezTo>
                    <a:pt x="1223214" y="0"/>
                    <a:pt x="1260822" y="37608"/>
                    <a:pt x="1260822" y="84000"/>
                  </a:cubicBezTo>
                  <a:lnTo>
                    <a:pt x="1260822" y="84000"/>
                  </a:lnTo>
                  <a:cubicBezTo>
                    <a:pt x="1260822" y="130392"/>
                    <a:pt x="1223214" y="168001"/>
                    <a:pt x="1176822" y="168001"/>
                  </a:cubicBezTo>
                  <a:lnTo>
                    <a:pt x="84000" y="168001"/>
                  </a:lnTo>
                  <a:cubicBezTo>
                    <a:pt x="37608" y="168001"/>
                    <a:pt x="0" y="130392"/>
                    <a:pt x="0" y="84000"/>
                  </a:cubicBezTo>
                  <a:lnTo>
                    <a:pt x="0" y="84000"/>
                  </a:lnTo>
                  <a:cubicBezTo>
                    <a:pt x="0" y="37608"/>
                    <a:pt x="37608" y="0"/>
                    <a:pt x="84000" y="0"/>
                  </a:cubicBezTo>
                  <a:close/>
                </a:path>
              </a:pathLst>
            </a:custGeom>
            <a:solidFill>
              <a:srgbClr val="1B689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260822" cy="196576"/>
            </a:xfrm>
            <a:prstGeom prst="rect">
              <a:avLst/>
            </a:prstGeom>
          </p:spPr>
          <p:txBody>
            <a:bodyPr lIns="53774" tIns="53774" rIns="53774" bIns="53774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161120" y="5810613"/>
            <a:ext cx="1271066" cy="1279060"/>
          </a:xfrm>
          <a:custGeom>
            <a:avLst/>
            <a:gdLst/>
            <a:ahLst/>
            <a:cxnLst/>
            <a:rect l="l" t="t" r="r" b="b"/>
            <a:pathLst>
              <a:path w="1271066" h="1279060">
                <a:moveTo>
                  <a:pt x="0" y="0"/>
                </a:moveTo>
                <a:lnTo>
                  <a:pt x="1271066" y="0"/>
                </a:lnTo>
                <a:lnTo>
                  <a:pt x="1271066" y="1279060"/>
                </a:lnTo>
                <a:lnTo>
                  <a:pt x="0" y="1279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700568" y="8226550"/>
            <a:ext cx="5067431" cy="675219"/>
            <a:chOff x="0" y="0"/>
            <a:chExt cx="1260822" cy="1680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0822" cy="168001"/>
            </a:xfrm>
            <a:custGeom>
              <a:avLst/>
              <a:gdLst/>
              <a:ahLst/>
              <a:cxnLst/>
              <a:rect l="l" t="t" r="r" b="b"/>
              <a:pathLst>
                <a:path w="1260822" h="168001">
                  <a:moveTo>
                    <a:pt x="84000" y="0"/>
                  </a:moveTo>
                  <a:lnTo>
                    <a:pt x="1176822" y="0"/>
                  </a:lnTo>
                  <a:cubicBezTo>
                    <a:pt x="1223214" y="0"/>
                    <a:pt x="1260822" y="37608"/>
                    <a:pt x="1260822" y="84000"/>
                  </a:cubicBezTo>
                  <a:lnTo>
                    <a:pt x="1260822" y="84000"/>
                  </a:lnTo>
                  <a:cubicBezTo>
                    <a:pt x="1260822" y="130392"/>
                    <a:pt x="1223214" y="168001"/>
                    <a:pt x="1176822" y="168001"/>
                  </a:cubicBezTo>
                  <a:lnTo>
                    <a:pt x="84000" y="168001"/>
                  </a:lnTo>
                  <a:cubicBezTo>
                    <a:pt x="37608" y="168001"/>
                    <a:pt x="0" y="130392"/>
                    <a:pt x="0" y="84000"/>
                  </a:cubicBezTo>
                  <a:lnTo>
                    <a:pt x="0" y="84000"/>
                  </a:lnTo>
                  <a:cubicBezTo>
                    <a:pt x="0" y="37608"/>
                    <a:pt x="37608" y="0"/>
                    <a:pt x="84000" y="0"/>
                  </a:cubicBezTo>
                  <a:close/>
                </a:path>
              </a:pathLst>
            </a:custGeom>
            <a:solidFill>
              <a:srgbClr val="1B68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260822" cy="196576"/>
            </a:xfrm>
            <a:prstGeom prst="rect">
              <a:avLst/>
            </a:prstGeom>
          </p:spPr>
          <p:txBody>
            <a:bodyPr lIns="53774" tIns="53774" rIns="53774" bIns="53774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6065036" y="7622710"/>
            <a:ext cx="1271066" cy="1279060"/>
          </a:xfrm>
          <a:custGeom>
            <a:avLst/>
            <a:gdLst/>
            <a:ahLst/>
            <a:cxnLst/>
            <a:rect l="l" t="t" r="r" b="b"/>
            <a:pathLst>
              <a:path w="1271066" h="1279060">
                <a:moveTo>
                  <a:pt x="0" y="0"/>
                </a:moveTo>
                <a:lnTo>
                  <a:pt x="1271065" y="0"/>
                </a:lnTo>
                <a:lnTo>
                  <a:pt x="1271065" y="1279059"/>
                </a:lnTo>
                <a:lnTo>
                  <a:pt x="0" y="127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6879877" y="4621044"/>
            <a:ext cx="478846" cy="482218"/>
            <a:chOff x="0" y="0"/>
            <a:chExt cx="1803400" cy="1816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03400" cy="1816100"/>
            </a:xfrm>
            <a:custGeom>
              <a:avLst/>
              <a:gdLst/>
              <a:ahLst/>
              <a:cxnLst/>
              <a:rect l="l" t="t" r="r" b="b"/>
              <a:pathLst>
                <a:path w="1803400" h="1816100">
                  <a:moveTo>
                    <a:pt x="0" y="0"/>
                  </a:moveTo>
                  <a:lnTo>
                    <a:pt x="1803400" y="0"/>
                  </a:lnTo>
                  <a:lnTo>
                    <a:pt x="1803400" y="1816100"/>
                  </a:lnTo>
                  <a:lnTo>
                    <a:pt x="0" y="181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6679484" y="6305882"/>
            <a:ext cx="713184" cy="713184"/>
          </a:xfrm>
          <a:custGeom>
            <a:avLst/>
            <a:gdLst/>
            <a:ahLst/>
            <a:cxnLst/>
            <a:rect l="l" t="t" r="r" b="b"/>
            <a:pathLst>
              <a:path w="713184" h="713184">
                <a:moveTo>
                  <a:pt x="0" y="0"/>
                </a:moveTo>
                <a:lnTo>
                  <a:pt x="713184" y="0"/>
                </a:lnTo>
                <a:lnTo>
                  <a:pt x="713184" y="713185"/>
                </a:lnTo>
                <a:lnTo>
                  <a:pt x="0" y="7131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455888" y="8156110"/>
            <a:ext cx="880213" cy="616149"/>
          </a:xfrm>
          <a:custGeom>
            <a:avLst/>
            <a:gdLst/>
            <a:ahLst/>
            <a:cxnLst/>
            <a:rect l="l" t="t" r="r" b="b"/>
            <a:pathLst>
              <a:path w="880213" h="616149">
                <a:moveTo>
                  <a:pt x="0" y="0"/>
                </a:moveTo>
                <a:lnTo>
                  <a:pt x="880213" y="0"/>
                </a:lnTo>
                <a:lnTo>
                  <a:pt x="880213" y="616149"/>
                </a:lnTo>
                <a:lnTo>
                  <a:pt x="0" y="6161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577096" y="295532"/>
            <a:ext cx="9334567" cy="920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9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GO-TO-MARKET STRATEGY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17552" y="1611544"/>
            <a:ext cx="5042886" cy="56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  <a:spcBef>
                <a:spcPct val="0"/>
              </a:spcBef>
            </a:pPr>
            <a:r>
              <a:rPr lang="en-US" sz="2957" b="1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SOCIAL MEDIA PRESENCE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49809" y="2237033"/>
            <a:ext cx="15738191" cy="133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  <a:spcBef>
                <a:spcPct val="0"/>
              </a:spcBef>
            </a:pPr>
            <a:r>
              <a:rPr lang="en-US" sz="2474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Establish active, content-rich profiles on Instagram, YouTube, Facebook, LinkedIn, and X (Twitter). Content strategy: Home maintenance tips, before-after service stories, professional spotlights, customer testimonials, quick-fix reels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04397" y="4652849"/>
            <a:ext cx="3187407" cy="45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@mistro_india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33228" y="6424600"/>
            <a:ext cx="4563296" cy="45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9"/>
              </a:lnSpc>
            </a:pPr>
            <a:r>
              <a:rPr lang="en-US" sz="26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@mistro_india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25088" y="8315694"/>
            <a:ext cx="3907631" cy="45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9"/>
              </a:lnSpc>
            </a:pPr>
            <a:r>
              <a:rPr lang="en-US" sz="26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Mistro.india@gmail.com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531069" y="1653755"/>
            <a:ext cx="789254" cy="789254"/>
          </a:xfrm>
          <a:custGeom>
            <a:avLst/>
            <a:gdLst/>
            <a:ahLst/>
            <a:cxnLst/>
            <a:rect l="l" t="t" r="r" b="b"/>
            <a:pathLst>
              <a:path w="789254" h="789254">
                <a:moveTo>
                  <a:pt x="0" y="0"/>
                </a:moveTo>
                <a:lnTo>
                  <a:pt x="789255" y="0"/>
                </a:lnTo>
                <a:lnTo>
                  <a:pt x="789255" y="789254"/>
                </a:lnTo>
                <a:lnTo>
                  <a:pt x="0" y="789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925696" y="2690870"/>
            <a:ext cx="6870634" cy="4042662"/>
            <a:chOff x="0" y="0"/>
            <a:chExt cx="1445002" cy="850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5002" cy="850235"/>
            </a:xfrm>
            <a:custGeom>
              <a:avLst/>
              <a:gdLst/>
              <a:ahLst/>
              <a:cxnLst/>
              <a:rect l="l" t="t" r="r" b="b"/>
              <a:pathLst>
                <a:path w="1445002" h="850235">
                  <a:moveTo>
                    <a:pt x="128498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90215"/>
                  </a:lnTo>
                  <a:lnTo>
                    <a:pt x="160020" y="850235"/>
                  </a:lnTo>
                  <a:lnTo>
                    <a:pt x="1284982" y="850235"/>
                  </a:lnTo>
                  <a:lnTo>
                    <a:pt x="1445002" y="690215"/>
                  </a:lnTo>
                  <a:lnTo>
                    <a:pt x="1445002" y="160020"/>
                  </a:lnTo>
                  <a:lnTo>
                    <a:pt x="1284982" y="0"/>
                  </a:lnTo>
                  <a:close/>
                </a:path>
              </a:pathLst>
            </a:custGeom>
            <a:solidFill>
              <a:srgbClr val="7778ED">
                <a:alpha val="8000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63500" y="25400"/>
              <a:ext cx="1318002" cy="761335"/>
            </a:xfrm>
            <a:prstGeom prst="rect">
              <a:avLst/>
            </a:prstGeom>
          </p:spPr>
          <p:txBody>
            <a:bodyPr lIns="53924" tIns="53924" rIns="53924" bIns="53924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36104" y="2690870"/>
            <a:ext cx="6870634" cy="4042662"/>
            <a:chOff x="0" y="0"/>
            <a:chExt cx="1445002" cy="850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5002" cy="850235"/>
            </a:xfrm>
            <a:custGeom>
              <a:avLst/>
              <a:gdLst/>
              <a:ahLst/>
              <a:cxnLst/>
              <a:rect l="l" t="t" r="r" b="b"/>
              <a:pathLst>
                <a:path w="1445002" h="850235">
                  <a:moveTo>
                    <a:pt x="128498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90215"/>
                  </a:lnTo>
                  <a:lnTo>
                    <a:pt x="160020" y="850235"/>
                  </a:lnTo>
                  <a:lnTo>
                    <a:pt x="1284982" y="850235"/>
                  </a:lnTo>
                  <a:lnTo>
                    <a:pt x="1445002" y="690215"/>
                  </a:lnTo>
                  <a:lnTo>
                    <a:pt x="1445002" y="160020"/>
                  </a:lnTo>
                  <a:lnTo>
                    <a:pt x="1284982" y="0"/>
                  </a:lnTo>
                  <a:close/>
                </a:path>
              </a:pathLst>
            </a:custGeom>
            <a:solidFill>
              <a:srgbClr val="02B2E4">
                <a:alpha val="56863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63500" y="25400"/>
              <a:ext cx="1318002" cy="761335"/>
            </a:xfrm>
            <a:prstGeom prst="rect">
              <a:avLst/>
            </a:prstGeom>
          </p:spPr>
          <p:txBody>
            <a:bodyPr lIns="53924" tIns="53924" rIns="53924" bIns="53924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925696" y="3495124"/>
            <a:ext cx="5510407" cy="2434154"/>
            <a:chOff x="0" y="0"/>
            <a:chExt cx="1310777" cy="5790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10777" cy="579019"/>
            </a:xfrm>
            <a:custGeom>
              <a:avLst/>
              <a:gdLst/>
              <a:ahLst/>
              <a:cxnLst/>
              <a:rect l="l" t="t" r="r" b="b"/>
              <a:pathLst>
                <a:path w="1310777" h="579019">
                  <a:moveTo>
                    <a:pt x="0" y="0"/>
                  </a:moveTo>
                  <a:lnTo>
                    <a:pt x="1310777" y="0"/>
                  </a:lnTo>
                  <a:lnTo>
                    <a:pt x="1310777" y="579019"/>
                  </a:lnTo>
                  <a:lnTo>
                    <a:pt x="0" y="579019"/>
                  </a:lnTo>
                  <a:close/>
                </a:path>
              </a:pathLst>
            </a:custGeom>
            <a:solidFill>
              <a:srgbClr val="7778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10777" cy="617119"/>
            </a:xfrm>
            <a:prstGeom prst="rect">
              <a:avLst/>
            </a:prstGeom>
          </p:spPr>
          <p:txBody>
            <a:bodyPr lIns="53924" tIns="53924" rIns="53924" bIns="53924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96330" y="3495124"/>
            <a:ext cx="5510407" cy="2434154"/>
            <a:chOff x="0" y="0"/>
            <a:chExt cx="1310777" cy="5790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10777" cy="579019"/>
            </a:xfrm>
            <a:custGeom>
              <a:avLst/>
              <a:gdLst/>
              <a:ahLst/>
              <a:cxnLst/>
              <a:rect l="l" t="t" r="r" b="b"/>
              <a:pathLst>
                <a:path w="1310777" h="579019">
                  <a:moveTo>
                    <a:pt x="0" y="0"/>
                  </a:moveTo>
                  <a:lnTo>
                    <a:pt x="1310777" y="0"/>
                  </a:lnTo>
                  <a:lnTo>
                    <a:pt x="1310777" y="579019"/>
                  </a:lnTo>
                  <a:lnTo>
                    <a:pt x="0" y="579019"/>
                  </a:lnTo>
                  <a:close/>
                </a:path>
              </a:pathLst>
            </a:custGeom>
            <a:solidFill>
              <a:srgbClr val="02B2E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10777" cy="617119"/>
            </a:xfrm>
            <a:prstGeom prst="rect">
              <a:avLst/>
            </a:prstGeom>
          </p:spPr>
          <p:txBody>
            <a:bodyPr lIns="53924" tIns="53924" rIns="53924" bIns="53924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436104" y="5923132"/>
            <a:ext cx="6870634" cy="4042662"/>
            <a:chOff x="0" y="0"/>
            <a:chExt cx="1445002" cy="8502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45002" cy="850235"/>
            </a:xfrm>
            <a:custGeom>
              <a:avLst/>
              <a:gdLst/>
              <a:ahLst/>
              <a:cxnLst/>
              <a:rect l="l" t="t" r="r" b="b"/>
              <a:pathLst>
                <a:path w="1445002" h="850235">
                  <a:moveTo>
                    <a:pt x="128498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90215"/>
                  </a:lnTo>
                  <a:lnTo>
                    <a:pt x="160020" y="850235"/>
                  </a:lnTo>
                  <a:lnTo>
                    <a:pt x="1284982" y="850235"/>
                  </a:lnTo>
                  <a:lnTo>
                    <a:pt x="1445002" y="690215"/>
                  </a:lnTo>
                  <a:lnTo>
                    <a:pt x="1445002" y="160020"/>
                  </a:lnTo>
                  <a:lnTo>
                    <a:pt x="1284982" y="0"/>
                  </a:lnTo>
                  <a:close/>
                </a:path>
              </a:pathLst>
            </a:custGeom>
            <a:solidFill>
              <a:srgbClr val="5DDB78">
                <a:alpha val="49804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63500" y="25400"/>
              <a:ext cx="1318002" cy="761335"/>
            </a:xfrm>
            <a:prstGeom prst="rect">
              <a:avLst/>
            </a:prstGeom>
          </p:spPr>
          <p:txBody>
            <a:bodyPr lIns="53924" tIns="53924" rIns="53924" bIns="53924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925696" y="5923132"/>
            <a:ext cx="6870634" cy="4042662"/>
            <a:chOff x="0" y="0"/>
            <a:chExt cx="1445002" cy="85023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45002" cy="850235"/>
            </a:xfrm>
            <a:custGeom>
              <a:avLst/>
              <a:gdLst/>
              <a:ahLst/>
              <a:cxnLst/>
              <a:rect l="l" t="t" r="r" b="b"/>
              <a:pathLst>
                <a:path w="1445002" h="850235">
                  <a:moveTo>
                    <a:pt x="128498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90215"/>
                  </a:lnTo>
                  <a:lnTo>
                    <a:pt x="160020" y="850235"/>
                  </a:lnTo>
                  <a:lnTo>
                    <a:pt x="1284982" y="850235"/>
                  </a:lnTo>
                  <a:lnTo>
                    <a:pt x="1445002" y="690215"/>
                  </a:lnTo>
                  <a:lnTo>
                    <a:pt x="1445002" y="160020"/>
                  </a:lnTo>
                  <a:lnTo>
                    <a:pt x="1284982" y="0"/>
                  </a:lnTo>
                  <a:close/>
                </a:path>
              </a:pathLst>
            </a:custGeom>
            <a:solidFill>
              <a:srgbClr val="00CCBC">
                <a:alpha val="69804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63500" y="25400"/>
              <a:ext cx="1318002" cy="761335"/>
            </a:xfrm>
            <a:prstGeom prst="rect">
              <a:avLst/>
            </a:prstGeom>
          </p:spPr>
          <p:txBody>
            <a:bodyPr lIns="53924" tIns="53924" rIns="53924" bIns="53924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25696" y="6717171"/>
            <a:ext cx="5510407" cy="2420788"/>
            <a:chOff x="0" y="0"/>
            <a:chExt cx="1310777" cy="575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10777" cy="575840"/>
            </a:xfrm>
            <a:custGeom>
              <a:avLst/>
              <a:gdLst/>
              <a:ahLst/>
              <a:cxnLst/>
              <a:rect l="l" t="t" r="r" b="b"/>
              <a:pathLst>
                <a:path w="1310777" h="575840">
                  <a:moveTo>
                    <a:pt x="0" y="0"/>
                  </a:moveTo>
                  <a:lnTo>
                    <a:pt x="1310777" y="0"/>
                  </a:lnTo>
                  <a:lnTo>
                    <a:pt x="1310777" y="575840"/>
                  </a:lnTo>
                  <a:lnTo>
                    <a:pt x="0" y="575840"/>
                  </a:lnTo>
                  <a:close/>
                </a:path>
              </a:pathLst>
            </a:custGeom>
            <a:solidFill>
              <a:srgbClr val="00CCBC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310777" cy="613940"/>
            </a:xfrm>
            <a:prstGeom prst="rect">
              <a:avLst/>
            </a:prstGeom>
          </p:spPr>
          <p:txBody>
            <a:bodyPr lIns="53924" tIns="53924" rIns="53924" bIns="53924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96330" y="6700810"/>
            <a:ext cx="5510407" cy="2453509"/>
            <a:chOff x="0" y="0"/>
            <a:chExt cx="1310777" cy="58362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10777" cy="583623"/>
            </a:xfrm>
            <a:custGeom>
              <a:avLst/>
              <a:gdLst/>
              <a:ahLst/>
              <a:cxnLst/>
              <a:rect l="l" t="t" r="r" b="b"/>
              <a:pathLst>
                <a:path w="1310777" h="583623">
                  <a:moveTo>
                    <a:pt x="0" y="0"/>
                  </a:moveTo>
                  <a:lnTo>
                    <a:pt x="1310777" y="0"/>
                  </a:lnTo>
                  <a:lnTo>
                    <a:pt x="1310777" y="583623"/>
                  </a:lnTo>
                  <a:lnTo>
                    <a:pt x="0" y="583623"/>
                  </a:lnTo>
                  <a:close/>
                </a:path>
              </a:pathLst>
            </a:custGeom>
            <a:solidFill>
              <a:srgbClr val="5DDB78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310777" cy="621723"/>
            </a:xfrm>
            <a:prstGeom prst="rect">
              <a:avLst/>
            </a:prstGeom>
          </p:spPr>
          <p:txBody>
            <a:bodyPr lIns="53924" tIns="53924" rIns="53924" bIns="53924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6361013" y="2764024"/>
            <a:ext cx="482206" cy="524850"/>
          </a:xfrm>
          <a:custGeom>
            <a:avLst/>
            <a:gdLst/>
            <a:ahLst/>
            <a:cxnLst/>
            <a:rect l="l" t="t" r="r" b="b"/>
            <a:pathLst>
              <a:path w="482206" h="524850">
                <a:moveTo>
                  <a:pt x="0" y="0"/>
                </a:moveTo>
                <a:lnTo>
                  <a:pt x="482206" y="0"/>
                </a:lnTo>
                <a:lnTo>
                  <a:pt x="482206" y="524849"/>
                </a:lnTo>
                <a:lnTo>
                  <a:pt x="0" y="5248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270224" y="2958827"/>
            <a:ext cx="533882" cy="533882"/>
          </a:xfrm>
          <a:custGeom>
            <a:avLst/>
            <a:gdLst/>
            <a:ahLst/>
            <a:cxnLst/>
            <a:rect l="l" t="t" r="r" b="b"/>
            <a:pathLst>
              <a:path w="533882" h="533882">
                <a:moveTo>
                  <a:pt x="0" y="0"/>
                </a:moveTo>
                <a:lnTo>
                  <a:pt x="533882" y="0"/>
                </a:lnTo>
                <a:lnTo>
                  <a:pt x="533882" y="533881"/>
                </a:lnTo>
                <a:lnTo>
                  <a:pt x="0" y="533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5656340" y="6046225"/>
            <a:ext cx="524362" cy="592499"/>
          </a:xfrm>
          <a:custGeom>
            <a:avLst/>
            <a:gdLst/>
            <a:ahLst/>
            <a:cxnLst/>
            <a:rect l="l" t="t" r="r" b="b"/>
            <a:pathLst>
              <a:path w="524362" h="592499">
                <a:moveTo>
                  <a:pt x="0" y="0"/>
                </a:moveTo>
                <a:lnTo>
                  <a:pt x="524362" y="0"/>
                </a:lnTo>
                <a:lnTo>
                  <a:pt x="524362" y="592500"/>
                </a:lnTo>
                <a:lnTo>
                  <a:pt x="0" y="592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2900955" y="6069156"/>
            <a:ext cx="440755" cy="491777"/>
          </a:xfrm>
          <a:custGeom>
            <a:avLst/>
            <a:gdLst/>
            <a:ahLst/>
            <a:cxnLst/>
            <a:rect l="l" t="t" r="r" b="b"/>
            <a:pathLst>
              <a:path w="440755" h="491777">
                <a:moveTo>
                  <a:pt x="0" y="0"/>
                </a:moveTo>
                <a:lnTo>
                  <a:pt x="440755" y="0"/>
                </a:lnTo>
                <a:lnTo>
                  <a:pt x="440755" y="491776"/>
                </a:lnTo>
                <a:lnTo>
                  <a:pt x="0" y="491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4558046" y="295532"/>
            <a:ext cx="9334567" cy="920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9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GO-TO-MARKET STRATEGY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28636" y="1804614"/>
            <a:ext cx="14005901" cy="63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2"/>
              </a:lnSpc>
            </a:pPr>
            <a:r>
              <a:rPr lang="en-US" sz="3366" b="1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GOAL: 20,000 App Downloads Across Tamil Nadu in Year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20324" y="2776384"/>
            <a:ext cx="3190187" cy="51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  <a:spcBef>
                <a:spcPct val="0"/>
              </a:spcBef>
            </a:pPr>
            <a:r>
              <a:rPr lang="en-US" sz="2696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Digital Marketing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071202" y="3447499"/>
            <a:ext cx="5760385" cy="264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  <a:spcBef>
                <a:spcPct val="0"/>
              </a:spcBef>
            </a:pPr>
            <a:r>
              <a:rPr lang="en-US" sz="2544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Instagram &amp; YouTube reels (demo of quick booking)</a:t>
            </a:r>
          </a:p>
          <a:p>
            <a:pPr algn="l">
              <a:lnSpc>
                <a:spcPts val="3562"/>
              </a:lnSpc>
              <a:spcBef>
                <a:spcPct val="0"/>
              </a:spcBef>
            </a:pPr>
            <a:r>
              <a:rPr lang="en-US" sz="2544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Google Ads (location-based search)</a:t>
            </a:r>
          </a:p>
          <a:p>
            <a:pPr algn="l">
              <a:lnSpc>
                <a:spcPts val="3562"/>
              </a:lnSpc>
              <a:spcBef>
                <a:spcPct val="0"/>
              </a:spcBef>
            </a:pPr>
            <a:r>
              <a:rPr lang="en-US" sz="2544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Influencer collaborations (home &amp; lifestyle creators)</a:t>
            </a:r>
          </a:p>
          <a:p>
            <a:pPr algn="l">
              <a:lnSpc>
                <a:spcPts val="3562"/>
              </a:lnSpc>
              <a:spcBef>
                <a:spcPct val="0"/>
              </a:spcBef>
            </a:pPr>
            <a:endParaRPr lang="en-US" sz="2544" b="1">
              <a:solidFill>
                <a:srgbClr val="FEFEFE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796330" y="2980263"/>
            <a:ext cx="257444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Local Outreach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64841" y="3680370"/>
            <a:ext cx="5373386" cy="1802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9"/>
              </a:lnSpc>
              <a:spcBef>
                <a:spcPct val="0"/>
              </a:spcBef>
            </a:pPr>
            <a:r>
              <a:rPr lang="en-US" sz="2563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WhatsApp community marketing</a:t>
            </a:r>
          </a:p>
          <a:p>
            <a:pPr algn="l">
              <a:lnSpc>
                <a:spcPts val="3589"/>
              </a:lnSpc>
              <a:spcBef>
                <a:spcPct val="0"/>
              </a:spcBef>
            </a:pPr>
            <a:r>
              <a:rPr lang="en-US" sz="2563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Local ads (newspapers, auto branding)</a:t>
            </a:r>
          </a:p>
          <a:p>
            <a:pPr algn="l">
              <a:lnSpc>
                <a:spcPts val="3589"/>
              </a:lnSpc>
              <a:spcBef>
                <a:spcPct val="0"/>
              </a:spcBef>
            </a:pPr>
            <a:r>
              <a:rPr lang="en-US" sz="2563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Apartment &amp; housing society demos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583156" y="6090084"/>
            <a:ext cx="2073184" cy="51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Partnerships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583156" y="6800206"/>
            <a:ext cx="5006573" cy="2149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2"/>
              </a:lnSpc>
              <a:spcBef>
                <a:spcPct val="0"/>
              </a:spcBef>
            </a:pPr>
            <a:r>
              <a:rPr lang="en-US" sz="2437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Hardware stores (QR code for app download)</a:t>
            </a:r>
          </a:p>
          <a:p>
            <a:pPr algn="l">
              <a:lnSpc>
                <a:spcPts val="3412"/>
              </a:lnSpc>
              <a:spcBef>
                <a:spcPct val="0"/>
              </a:spcBef>
            </a:pPr>
            <a:r>
              <a:rPr lang="en-US" sz="2437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ITI &amp; Polytechnic institutes (professional onboarding)</a:t>
            </a:r>
          </a:p>
          <a:p>
            <a:pPr algn="l">
              <a:lnSpc>
                <a:spcPts val="3412"/>
              </a:lnSpc>
              <a:spcBef>
                <a:spcPct val="0"/>
              </a:spcBef>
            </a:pPr>
            <a:r>
              <a:rPr lang="en-US" sz="2437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Tool &amp; paint brands (co-promotion)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96330" y="6090084"/>
            <a:ext cx="3218925" cy="51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Awareness Strategy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04870" y="6883483"/>
            <a:ext cx="4893328" cy="182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First-booking discounts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Customer testimonials &amp; success stories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 b="1">
                <a:solidFill>
                  <a:srgbClr val="FEFEF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Before–after service content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39520" y="3984283"/>
            <a:ext cx="10548480" cy="6302717"/>
          </a:xfrm>
          <a:custGeom>
            <a:avLst/>
            <a:gdLst/>
            <a:ahLst/>
            <a:cxnLst/>
            <a:rect l="l" t="t" r="r" b="b"/>
            <a:pathLst>
              <a:path w="10548480" h="6302717">
                <a:moveTo>
                  <a:pt x="0" y="0"/>
                </a:moveTo>
                <a:lnTo>
                  <a:pt x="10548480" y="0"/>
                </a:lnTo>
                <a:lnTo>
                  <a:pt x="10548480" y="6302717"/>
                </a:lnTo>
                <a:lnTo>
                  <a:pt x="0" y="6302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77406" y="1226384"/>
            <a:ext cx="1445324" cy="4114800"/>
          </a:xfrm>
          <a:custGeom>
            <a:avLst/>
            <a:gdLst/>
            <a:ahLst/>
            <a:cxnLst/>
            <a:rect l="l" t="t" r="r" b="b"/>
            <a:pathLst>
              <a:path w="1445324" h="4114800">
                <a:moveTo>
                  <a:pt x="0" y="0"/>
                </a:moveTo>
                <a:lnTo>
                  <a:pt x="1445323" y="0"/>
                </a:lnTo>
                <a:lnTo>
                  <a:pt x="14453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2500" y="3898097"/>
            <a:ext cx="1202935" cy="918742"/>
          </a:xfrm>
          <a:custGeom>
            <a:avLst/>
            <a:gdLst/>
            <a:ahLst/>
            <a:cxnLst/>
            <a:rect l="l" t="t" r="r" b="b"/>
            <a:pathLst>
              <a:path w="1202935" h="918742">
                <a:moveTo>
                  <a:pt x="0" y="0"/>
                </a:moveTo>
                <a:lnTo>
                  <a:pt x="1202935" y="0"/>
                </a:lnTo>
                <a:lnTo>
                  <a:pt x="1202935" y="918742"/>
                </a:lnTo>
                <a:lnTo>
                  <a:pt x="0" y="9187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45420" y="3898097"/>
            <a:ext cx="1202935" cy="918742"/>
          </a:xfrm>
          <a:custGeom>
            <a:avLst/>
            <a:gdLst/>
            <a:ahLst/>
            <a:cxnLst/>
            <a:rect l="l" t="t" r="r" b="b"/>
            <a:pathLst>
              <a:path w="1202935" h="918742">
                <a:moveTo>
                  <a:pt x="0" y="0"/>
                </a:moveTo>
                <a:lnTo>
                  <a:pt x="1202935" y="0"/>
                </a:lnTo>
                <a:lnTo>
                  <a:pt x="1202935" y="918742"/>
                </a:lnTo>
                <a:lnTo>
                  <a:pt x="0" y="9187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52500" y="5658901"/>
            <a:ext cx="1202935" cy="918742"/>
          </a:xfrm>
          <a:custGeom>
            <a:avLst/>
            <a:gdLst/>
            <a:ahLst/>
            <a:cxnLst/>
            <a:rect l="l" t="t" r="r" b="b"/>
            <a:pathLst>
              <a:path w="1202935" h="918742">
                <a:moveTo>
                  <a:pt x="0" y="0"/>
                </a:moveTo>
                <a:lnTo>
                  <a:pt x="1202935" y="0"/>
                </a:lnTo>
                <a:lnTo>
                  <a:pt x="1202935" y="918742"/>
                </a:lnTo>
                <a:lnTo>
                  <a:pt x="0" y="9187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645420" y="5658901"/>
            <a:ext cx="1202935" cy="918742"/>
          </a:xfrm>
          <a:custGeom>
            <a:avLst/>
            <a:gdLst/>
            <a:ahLst/>
            <a:cxnLst/>
            <a:rect l="l" t="t" r="r" b="b"/>
            <a:pathLst>
              <a:path w="1202935" h="918742">
                <a:moveTo>
                  <a:pt x="0" y="0"/>
                </a:moveTo>
                <a:lnTo>
                  <a:pt x="1202935" y="0"/>
                </a:lnTo>
                <a:lnTo>
                  <a:pt x="1202935" y="918742"/>
                </a:lnTo>
                <a:lnTo>
                  <a:pt x="0" y="9187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52500" y="7419706"/>
            <a:ext cx="1202935" cy="918742"/>
          </a:xfrm>
          <a:custGeom>
            <a:avLst/>
            <a:gdLst/>
            <a:ahLst/>
            <a:cxnLst/>
            <a:rect l="l" t="t" r="r" b="b"/>
            <a:pathLst>
              <a:path w="1202935" h="918742">
                <a:moveTo>
                  <a:pt x="0" y="0"/>
                </a:moveTo>
                <a:lnTo>
                  <a:pt x="1202935" y="0"/>
                </a:lnTo>
                <a:lnTo>
                  <a:pt x="1202935" y="918741"/>
                </a:lnTo>
                <a:lnTo>
                  <a:pt x="0" y="91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81669" y="4447780"/>
            <a:ext cx="1521561" cy="1070798"/>
          </a:xfrm>
          <a:custGeom>
            <a:avLst/>
            <a:gdLst/>
            <a:ahLst/>
            <a:cxnLst/>
            <a:rect l="l" t="t" r="r" b="b"/>
            <a:pathLst>
              <a:path w="1521561" h="1070798">
                <a:moveTo>
                  <a:pt x="0" y="0"/>
                </a:moveTo>
                <a:lnTo>
                  <a:pt x="1521561" y="0"/>
                </a:lnTo>
                <a:lnTo>
                  <a:pt x="1521561" y="1070799"/>
                </a:lnTo>
                <a:lnTo>
                  <a:pt x="0" y="1070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410459" y="5496534"/>
            <a:ext cx="1521561" cy="1070798"/>
          </a:xfrm>
          <a:custGeom>
            <a:avLst/>
            <a:gdLst/>
            <a:ahLst/>
            <a:cxnLst/>
            <a:rect l="l" t="t" r="r" b="b"/>
            <a:pathLst>
              <a:path w="1521561" h="1070798">
                <a:moveTo>
                  <a:pt x="0" y="0"/>
                </a:moveTo>
                <a:lnTo>
                  <a:pt x="1521561" y="0"/>
                </a:lnTo>
                <a:lnTo>
                  <a:pt x="1521561" y="1070798"/>
                </a:lnTo>
                <a:lnTo>
                  <a:pt x="0" y="1070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339249" y="6545287"/>
            <a:ext cx="1521561" cy="1070798"/>
          </a:xfrm>
          <a:custGeom>
            <a:avLst/>
            <a:gdLst/>
            <a:ahLst/>
            <a:cxnLst/>
            <a:rect l="l" t="t" r="r" b="b"/>
            <a:pathLst>
              <a:path w="1521561" h="1070798">
                <a:moveTo>
                  <a:pt x="0" y="0"/>
                </a:moveTo>
                <a:lnTo>
                  <a:pt x="1521561" y="0"/>
                </a:lnTo>
                <a:lnTo>
                  <a:pt x="1521561" y="1070799"/>
                </a:lnTo>
                <a:lnTo>
                  <a:pt x="0" y="1070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268039" y="7594041"/>
            <a:ext cx="1521561" cy="1070798"/>
          </a:xfrm>
          <a:custGeom>
            <a:avLst/>
            <a:gdLst/>
            <a:ahLst/>
            <a:cxnLst/>
            <a:rect l="l" t="t" r="r" b="b"/>
            <a:pathLst>
              <a:path w="1521561" h="1070798">
                <a:moveTo>
                  <a:pt x="0" y="0"/>
                </a:moveTo>
                <a:lnTo>
                  <a:pt x="1521560" y="0"/>
                </a:lnTo>
                <a:lnTo>
                  <a:pt x="1521560" y="1070798"/>
                </a:lnTo>
                <a:lnTo>
                  <a:pt x="0" y="1070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196829" y="8642794"/>
            <a:ext cx="1521561" cy="1070798"/>
            <a:chOff x="0" y="0"/>
            <a:chExt cx="2028748" cy="14277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28748" cy="1427731"/>
            </a:xfrm>
            <a:custGeom>
              <a:avLst/>
              <a:gdLst/>
              <a:ahLst/>
              <a:cxnLst/>
              <a:rect l="l" t="t" r="r" b="b"/>
              <a:pathLst>
                <a:path w="2028748" h="1427731">
                  <a:moveTo>
                    <a:pt x="0" y="0"/>
                  </a:moveTo>
                  <a:lnTo>
                    <a:pt x="2028748" y="0"/>
                  </a:lnTo>
                  <a:lnTo>
                    <a:pt x="2028748" y="1427731"/>
                  </a:lnTo>
                  <a:lnTo>
                    <a:pt x="0" y="1427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337665" y="321225"/>
              <a:ext cx="720138" cy="720138"/>
            </a:xfrm>
            <a:custGeom>
              <a:avLst/>
              <a:gdLst/>
              <a:ahLst/>
              <a:cxnLst/>
              <a:rect l="l" t="t" r="r" b="b"/>
              <a:pathLst>
                <a:path w="720138" h="720138">
                  <a:moveTo>
                    <a:pt x="0" y="0"/>
                  </a:moveTo>
                  <a:lnTo>
                    <a:pt x="720138" y="0"/>
                  </a:lnTo>
                  <a:lnTo>
                    <a:pt x="720138" y="720138"/>
                  </a:lnTo>
                  <a:lnTo>
                    <a:pt x="0" y="72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9527168" y="7855091"/>
            <a:ext cx="548698" cy="548698"/>
          </a:xfrm>
          <a:custGeom>
            <a:avLst/>
            <a:gdLst/>
            <a:ahLst/>
            <a:cxnLst/>
            <a:rect l="l" t="t" r="r" b="b"/>
            <a:pathLst>
              <a:path w="548698" h="548698">
                <a:moveTo>
                  <a:pt x="0" y="0"/>
                </a:moveTo>
                <a:lnTo>
                  <a:pt x="548698" y="0"/>
                </a:lnTo>
                <a:lnTo>
                  <a:pt x="548698" y="548698"/>
                </a:lnTo>
                <a:lnTo>
                  <a:pt x="0" y="548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592231" y="6830647"/>
            <a:ext cx="529681" cy="529681"/>
          </a:xfrm>
          <a:custGeom>
            <a:avLst/>
            <a:gdLst/>
            <a:ahLst/>
            <a:cxnLst/>
            <a:rect l="l" t="t" r="r" b="b"/>
            <a:pathLst>
              <a:path w="529681" h="529681">
                <a:moveTo>
                  <a:pt x="0" y="0"/>
                </a:moveTo>
                <a:lnTo>
                  <a:pt x="529682" y="0"/>
                </a:lnTo>
                <a:lnTo>
                  <a:pt x="529682" y="529681"/>
                </a:lnTo>
                <a:lnTo>
                  <a:pt x="0" y="529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727438" y="5795239"/>
            <a:ext cx="443801" cy="473388"/>
          </a:xfrm>
          <a:custGeom>
            <a:avLst/>
            <a:gdLst/>
            <a:ahLst/>
            <a:cxnLst/>
            <a:rect l="l" t="t" r="r" b="b"/>
            <a:pathLst>
              <a:path w="443801" h="473388">
                <a:moveTo>
                  <a:pt x="0" y="0"/>
                </a:moveTo>
                <a:lnTo>
                  <a:pt x="443801" y="0"/>
                </a:lnTo>
                <a:lnTo>
                  <a:pt x="443801" y="473388"/>
                </a:lnTo>
                <a:lnTo>
                  <a:pt x="0" y="473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800068" y="4769487"/>
            <a:ext cx="427385" cy="427385"/>
          </a:xfrm>
          <a:custGeom>
            <a:avLst/>
            <a:gdLst/>
            <a:ahLst/>
            <a:cxnLst/>
            <a:rect l="l" t="t" r="r" b="b"/>
            <a:pathLst>
              <a:path w="427385" h="427385">
                <a:moveTo>
                  <a:pt x="0" y="0"/>
                </a:moveTo>
                <a:lnTo>
                  <a:pt x="427385" y="0"/>
                </a:lnTo>
                <a:lnTo>
                  <a:pt x="427385" y="427385"/>
                </a:lnTo>
                <a:lnTo>
                  <a:pt x="0" y="427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-31243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1" y="0"/>
                </a:lnTo>
                <a:lnTo>
                  <a:pt x="3509041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7771" y="8872012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51992" t="-57558" r="-56619" b="-73387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810667" y="8872012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1" r="-11"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5961199" y="66675"/>
            <a:ext cx="2133600" cy="838200"/>
            <a:chOff x="0" y="0"/>
            <a:chExt cx="2844800" cy="1117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t="-8334" b="-8711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2589522" y="-948540"/>
            <a:ext cx="3989387" cy="3954479"/>
          </a:xfrm>
          <a:custGeom>
            <a:avLst/>
            <a:gdLst/>
            <a:ahLst/>
            <a:cxnLst/>
            <a:rect l="l" t="t" r="r" b="b"/>
            <a:pathLst>
              <a:path w="3989387" h="3954479">
                <a:moveTo>
                  <a:pt x="0" y="0"/>
                </a:moveTo>
                <a:lnTo>
                  <a:pt x="3989387" y="0"/>
                </a:lnTo>
                <a:lnTo>
                  <a:pt x="3989387" y="3954480"/>
                </a:lnTo>
                <a:lnTo>
                  <a:pt x="0" y="395448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67000"/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71008" y="1520860"/>
            <a:ext cx="705099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Growth Path Steps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1008" y="2273302"/>
            <a:ext cx="8315539" cy="92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Each step on this path represents progress from idea creation toward sustainable lean startup growth.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98350" y="4291364"/>
            <a:ext cx="2530427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MVP launch in 1–2 cities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 user acquisition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Feedback collection</a:t>
            </a:r>
          </a:p>
          <a:p>
            <a:pPr algn="l">
              <a:lnSpc>
                <a:spcPts val="2239"/>
              </a:lnSpc>
            </a:pPr>
            <a:endParaRPr lang="en-US" sz="1599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498350" y="3859997"/>
            <a:ext cx="2642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LAUNCH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2500" y="4085739"/>
            <a:ext cx="1202935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4410" y="4218369"/>
            <a:ext cx="879114" cy="37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91270" y="4291364"/>
            <a:ext cx="2917973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Improve retention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Introduce referral programs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Strengthen revenue model</a:t>
            </a:r>
          </a:p>
          <a:p>
            <a:pPr algn="l">
              <a:lnSpc>
                <a:spcPts val="2239"/>
              </a:lnSpc>
            </a:pPr>
            <a:endParaRPr lang="en-US" sz="1599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191270" y="3859997"/>
            <a:ext cx="2642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OPTIMISE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2500" y="5846543"/>
            <a:ext cx="1202935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14410" y="5979173"/>
            <a:ext cx="879114" cy="37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98343" y="6016055"/>
            <a:ext cx="2804170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Improve matching &amp; UX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Build trust (reviews, verification)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Optimize onboarding</a:t>
            </a:r>
          </a:p>
          <a:p>
            <a:pPr algn="l">
              <a:lnSpc>
                <a:spcPts val="2239"/>
              </a:lnSpc>
            </a:pPr>
            <a:endParaRPr lang="en-US" sz="1599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498350" y="5620801"/>
            <a:ext cx="2642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VALIDATE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45420" y="4085739"/>
            <a:ext cx="1202935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07331" y="4218369"/>
            <a:ext cx="879114" cy="37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45420" y="5856068"/>
            <a:ext cx="1202935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807331" y="5988698"/>
            <a:ext cx="879114" cy="37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191270" y="6052168"/>
            <a:ext cx="2917973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Expand across Tamil Nadu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Enter new states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Add more service categories</a:t>
            </a:r>
          </a:p>
          <a:p>
            <a:pPr algn="l">
              <a:lnSpc>
                <a:spcPts val="2239"/>
              </a:lnSpc>
            </a:pPr>
            <a:endParaRPr lang="en-US" sz="1599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191270" y="5620801"/>
            <a:ext cx="2642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SCALE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2500" y="7607347"/>
            <a:ext cx="1202935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14410" y="7739977"/>
            <a:ext cx="879114" cy="37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498350" y="7822497"/>
            <a:ext cx="2601000" cy="143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0680" lvl="1" indent="-150340" algn="l">
              <a:lnSpc>
                <a:spcPts val="1949"/>
              </a:lnSpc>
              <a:buFont typeface="Arial"/>
              <a:buChar char="•"/>
            </a:pPr>
            <a:r>
              <a:rPr lang="en-US" sz="139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Scale to major Tamil Nadu cities</a:t>
            </a:r>
          </a:p>
          <a:p>
            <a:pPr marL="300680" lvl="1" indent="-150340" algn="l">
              <a:lnSpc>
                <a:spcPts val="1949"/>
              </a:lnSpc>
              <a:buFont typeface="Arial"/>
              <a:buChar char="•"/>
            </a:pPr>
            <a:r>
              <a:rPr lang="en-US" sz="139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Increase marketing campaigns</a:t>
            </a:r>
          </a:p>
          <a:p>
            <a:pPr marL="300680" lvl="1" indent="-150340" algn="l">
              <a:lnSpc>
                <a:spcPts val="1949"/>
              </a:lnSpc>
              <a:buFont typeface="Arial"/>
              <a:buChar char="•"/>
            </a:pPr>
            <a:r>
              <a:rPr lang="en-US" sz="139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Partner with local businesses</a:t>
            </a:r>
          </a:p>
          <a:p>
            <a:pPr algn="l">
              <a:lnSpc>
                <a:spcPts val="1949"/>
              </a:lnSpc>
            </a:pPr>
            <a:endParaRPr lang="en-US" sz="1392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2498350" y="7381606"/>
            <a:ext cx="26423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EXPAND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569427" y="1554844"/>
            <a:ext cx="13149146" cy="7889367"/>
          </a:xfrm>
          <a:custGeom>
            <a:avLst/>
            <a:gdLst/>
            <a:ahLst/>
            <a:cxnLst/>
            <a:rect l="l" t="t" r="r" b="b"/>
            <a:pathLst>
              <a:path w="13149146" h="7889367">
                <a:moveTo>
                  <a:pt x="0" y="0"/>
                </a:moveTo>
                <a:lnTo>
                  <a:pt x="13149146" y="0"/>
                </a:lnTo>
                <a:lnTo>
                  <a:pt x="13149146" y="7889367"/>
                </a:lnTo>
                <a:lnTo>
                  <a:pt x="0" y="7889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61" t="-13139" r="-2730" b="-444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83106" y="149571"/>
            <a:ext cx="6464513" cy="101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FINANCIAL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050816" y="295275"/>
            <a:ext cx="14186369" cy="9451668"/>
          </a:xfrm>
          <a:custGeom>
            <a:avLst/>
            <a:gdLst/>
            <a:ahLst/>
            <a:cxnLst/>
            <a:rect l="l" t="t" r="r" b="b"/>
            <a:pathLst>
              <a:path w="14186369" h="9451668">
                <a:moveTo>
                  <a:pt x="0" y="0"/>
                </a:moveTo>
                <a:lnTo>
                  <a:pt x="14186368" y="0"/>
                </a:lnTo>
                <a:lnTo>
                  <a:pt x="14186368" y="9451668"/>
                </a:lnTo>
                <a:lnTo>
                  <a:pt x="0" y="9451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02149" y="403222"/>
            <a:ext cx="6882527" cy="104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FORECAST OF P&amp;L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811937" y="1438445"/>
            <a:ext cx="14636631" cy="7819855"/>
          </a:xfrm>
          <a:custGeom>
            <a:avLst/>
            <a:gdLst/>
            <a:ahLst/>
            <a:cxnLst/>
            <a:rect l="l" t="t" r="r" b="b"/>
            <a:pathLst>
              <a:path w="14636631" h="7819855">
                <a:moveTo>
                  <a:pt x="0" y="0"/>
                </a:moveTo>
                <a:lnTo>
                  <a:pt x="14636631" y="0"/>
                </a:lnTo>
                <a:lnTo>
                  <a:pt x="14636631" y="7819855"/>
                </a:lnTo>
                <a:lnTo>
                  <a:pt x="0" y="7819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50" t="-13398" r="-301" b="-1236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965221" y="235572"/>
            <a:ext cx="8524427" cy="920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9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FINANCIAL PROJECTION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294936" y="2319386"/>
            <a:ext cx="14036018" cy="6231420"/>
          </a:xfrm>
          <a:custGeom>
            <a:avLst/>
            <a:gdLst/>
            <a:ahLst/>
            <a:cxnLst/>
            <a:rect l="l" t="t" r="r" b="b"/>
            <a:pathLst>
              <a:path w="14036018" h="6231420">
                <a:moveTo>
                  <a:pt x="0" y="0"/>
                </a:moveTo>
                <a:lnTo>
                  <a:pt x="14036018" y="0"/>
                </a:lnTo>
                <a:lnTo>
                  <a:pt x="14036018" y="6231420"/>
                </a:lnTo>
                <a:lnTo>
                  <a:pt x="0" y="62314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91" t="-25529" r="-2352" b="-3121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652449" y="315820"/>
            <a:ext cx="6842808" cy="101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UNIT ECONOMICS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3371130" y="1780671"/>
            <a:ext cx="11774834" cy="7344862"/>
          </a:xfrm>
          <a:custGeom>
            <a:avLst/>
            <a:gdLst/>
            <a:ahLst/>
            <a:cxnLst/>
            <a:rect l="l" t="t" r="r" b="b"/>
            <a:pathLst>
              <a:path w="11774834" h="7344862">
                <a:moveTo>
                  <a:pt x="0" y="0"/>
                </a:moveTo>
                <a:lnTo>
                  <a:pt x="11774835" y="0"/>
                </a:lnTo>
                <a:lnTo>
                  <a:pt x="11774835" y="7344862"/>
                </a:lnTo>
                <a:lnTo>
                  <a:pt x="0" y="73448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680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037155" y="440141"/>
            <a:ext cx="5797687" cy="101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09">
                <a:solidFill>
                  <a:srgbClr val="FEFEF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FUNDING PLAN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6" y="197357"/>
            <a:ext cx="3509041" cy="936118"/>
          </a:xfrm>
          <a:custGeom>
            <a:avLst/>
            <a:gdLst/>
            <a:ahLst/>
            <a:cxnLst/>
            <a:rect l="l" t="t" r="r" b="b"/>
            <a:pathLst>
              <a:path w="3509041" h="936118">
                <a:moveTo>
                  <a:pt x="0" y="0"/>
                </a:moveTo>
                <a:lnTo>
                  <a:pt x="3509040" y="0"/>
                </a:lnTo>
                <a:lnTo>
                  <a:pt x="3509040" y="936118"/>
                </a:lnTo>
                <a:lnTo>
                  <a:pt x="0" y="93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05158" y="8704028"/>
            <a:ext cx="1108284" cy="1108544"/>
          </a:xfrm>
          <a:custGeom>
            <a:avLst/>
            <a:gdLst/>
            <a:ahLst/>
            <a:cxnLst/>
            <a:rect l="l" t="t" r="r" b="b"/>
            <a:pathLst>
              <a:path w="1108284" h="1108544">
                <a:moveTo>
                  <a:pt x="0" y="0"/>
                </a:moveTo>
                <a:lnTo>
                  <a:pt x="1108284" y="0"/>
                </a:lnTo>
                <a:lnTo>
                  <a:pt x="1108284" y="1108544"/>
                </a:lnTo>
                <a:lnTo>
                  <a:pt x="0" y="1108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" r="-1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77303" y="3350115"/>
            <a:ext cx="9763720" cy="26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61"/>
              </a:lnSpc>
            </a:pPr>
            <a:r>
              <a:rPr lang="en-US" sz="14187" spc="283">
                <a:solidFill>
                  <a:srgbClr val="FEFEF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You!</a:t>
            </a:r>
          </a:p>
        </p:txBody>
      </p:sp>
      <p:sp>
        <p:nvSpPr>
          <p:cNvPr id="5" name="Freeform 5"/>
          <p:cNvSpPr/>
          <p:nvPr/>
        </p:nvSpPr>
        <p:spPr>
          <a:xfrm>
            <a:off x="245463" y="8550806"/>
            <a:ext cx="1566474" cy="1414988"/>
          </a:xfrm>
          <a:custGeom>
            <a:avLst/>
            <a:gdLst/>
            <a:ahLst/>
            <a:cxnLst/>
            <a:rect l="l" t="t" r="r" b="b"/>
            <a:pathLst>
              <a:path w="1566474" h="1414988">
                <a:moveTo>
                  <a:pt x="0" y="0"/>
                </a:moveTo>
                <a:lnTo>
                  <a:pt x="1566474" y="0"/>
                </a:lnTo>
                <a:lnTo>
                  <a:pt x="1566474" y="1414988"/>
                </a:lnTo>
                <a:lnTo>
                  <a:pt x="0" y="14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992" t="-57558" r="-56619" b="-7338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679842" y="295275"/>
            <a:ext cx="2133600" cy="838200"/>
            <a:chOff x="0" y="0"/>
            <a:chExt cx="2844800" cy="1117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44800" cy="1117600"/>
            </a:xfrm>
            <a:custGeom>
              <a:avLst/>
              <a:gdLst/>
              <a:ahLst/>
              <a:cxnLst/>
              <a:rect l="l" t="t" r="r" b="b"/>
              <a:pathLst>
                <a:path w="2844800" h="1117600">
                  <a:moveTo>
                    <a:pt x="0" y="0"/>
                  </a:moveTo>
                  <a:lnTo>
                    <a:pt x="2844800" y="0"/>
                  </a:lnTo>
                  <a:lnTo>
                    <a:pt x="2844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334" b="-871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1139</Words>
  <Application>Microsoft Office PowerPoint</Application>
  <PresentationFormat>Custom</PresentationFormat>
  <Paragraphs>187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Poppins</vt:lpstr>
      <vt:lpstr>Gordita Bold</vt:lpstr>
      <vt:lpstr>Arial</vt:lpstr>
      <vt:lpstr>Source Sans Pro Bold</vt:lpstr>
      <vt:lpstr>Canva Sans</vt:lpstr>
      <vt:lpstr>Calibri</vt:lpstr>
      <vt:lpstr>Gordita</vt:lpstr>
      <vt:lpstr>TT Hoves Bold</vt:lpstr>
      <vt:lpstr>Proxima Nova Bold</vt:lpstr>
      <vt:lpstr>Proxima Nova</vt:lpstr>
      <vt:lpstr>Times New Roman MT Bold</vt:lpstr>
      <vt:lpstr>Times New Roman MT</vt:lpstr>
      <vt:lpstr>Poppins Bold</vt:lpstr>
      <vt:lpstr>Archive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MISTRO</dc:title>
  <cp:lastModifiedBy>kishore s</cp:lastModifiedBy>
  <cp:revision>1</cp:revision>
  <dcterms:created xsi:type="dcterms:W3CDTF">2006-08-16T00:00:00Z</dcterms:created>
  <dcterms:modified xsi:type="dcterms:W3CDTF">2026-08-20T05:39:56Z</dcterms:modified>
  <dc:identifier>DAHGzaPsEz8</dc:identifier>
</cp:coreProperties>
</file>