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6"/>
  </p:notesMasterIdLst>
  <p:handoutMasterIdLst>
    <p:handoutMasterId r:id="rId17"/>
  </p:handoutMasterIdLst>
  <p:sldIdLst>
    <p:sldId id="314" r:id="rId5"/>
    <p:sldId id="315" r:id="rId6"/>
    <p:sldId id="316" r:id="rId7"/>
    <p:sldId id="317" r:id="rId8"/>
    <p:sldId id="318" r:id="rId9"/>
    <p:sldId id="319" r:id="rId10"/>
    <p:sldId id="320" r:id="rId11"/>
    <p:sldId id="321" r:id="rId12"/>
    <p:sldId id="322" r:id="rId13"/>
    <p:sldId id="323" r:id="rId14"/>
    <p:sldId id="30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78" d="100"/>
          <a:sy n="78" d="100"/>
        </p:scale>
        <p:origin x="878" y="7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3/31/2026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3528550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333603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3486472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3984229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2586565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4110010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8059271" y="4598894"/>
            <a:ext cx="3711089" cy="1375187"/>
          </a:xfrm>
        </p:spPr>
        <p:txBody>
          <a:bodyPr>
            <a:normAutofit/>
          </a:bodyPr>
          <a:lstStyle/>
          <a:p>
            <a:r>
              <a:rPr lang="en-US" sz="7200" dirty="0"/>
              <a:t>MISTRO</a:t>
            </a:r>
          </a:p>
        </p:txBody>
      </p:sp>
      <p:sp>
        <p:nvSpPr>
          <p:cNvPr id="3" name="TextBox 2">
            <a:extLst>
              <a:ext uri="{FF2B5EF4-FFF2-40B4-BE49-F238E27FC236}">
                <a16:creationId xmlns:a16="http://schemas.microsoft.com/office/drawing/2014/main" id="{25EDB206-8D3C-783F-E2C9-699EC8E21A43}"/>
              </a:ext>
            </a:extLst>
          </p:cNvPr>
          <p:cNvSpPr txBox="1"/>
          <p:nvPr/>
        </p:nvSpPr>
        <p:spPr>
          <a:xfrm>
            <a:off x="8130987" y="5889812"/>
            <a:ext cx="2947923" cy="369332"/>
          </a:xfrm>
          <a:prstGeom prst="rect">
            <a:avLst/>
          </a:prstGeom>
          <a:noFill/>
        </p:spPr>
        <p:txBody>
          <a:bodyPr wrap="none" rtlCol="0">
            <a:spAutoFit/>
          </a:bodyPr>
          <a:lstStyle/>
          <a:p>
            <a:r>
              <a:rPr lang="en-IN" dirty="0"/>
              <a:t>SERVICE ON , STRESS GONE</a:t>
            </a:r>
          </a:p>
        </p:txBody>
      </p:sp>
    </p:spTree>
    <p:extLst>
      <p:ext uri="{BB962C8B-B14F-4D97-AF65-F5344CB8AC3E}">
        <p14:creationId xmlns:p14="http://schemas.microsoft.com/office/powerpoint/2010/main" val="294539006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401637" y="2541762"/>
            <a:ext cx="2276475" cy="882159"/>
          </a:xfrm>
        </p:spPr>
        <p:txBody>
          <a:bodyPr/>
          <a:lstStyle/>
          <a:p>
            <a:r>
              <a:rPr lang="en-US" dirty="0"/>
              <a:t>INTRO</a:t>
            </a:r>
          </a:p>
        </p:txBody>
      </p:sp>
      <p:pic>
        <p:nvPicPr>
          <p:cNvPr id="8" name="Picture Placeholder 7">
            <a:extLst>
              <a:ext uri="{FF2B5EF4-FFF2-40B4-BE49-F238E27FC236}">
                <a16:creationId xmlns:a16="http://schemas.microsoft.com/office/drawing/2014/main" id="{36CF87DF-1FD9-8AF6-B8BD-A4114F2F081B}"/>
              </a:ext>
            </a:extLst>
          </p:cNvPr>
          <p:cNvPicPr>
            <a:picLocks noGrp="1" noChangeAspect="1"/>
          </p:cNvPicPr>
          <p:nvPr>
            <p:ph type="pic" sz="quarter" idx="10"/>
          </p:nvPr>
        </p:nvPicPr>
        <p:blipFill>
          <a:blip r:embed="rId3"/>
          <a:srcRect l="25716" r="25716"/>
          <a:stretch>
            <a:fillRect/>
          </a:stretch>
        </p:blipFill>
        <p:spPr>
          <a:xfrm>
            <a:off x="5987228" y="-20955"/>
            <a:ext cx="6116320" cy="6868160"/>
          </a:xfrm>
          <a:prstGeom prst="rect">
            <a:avLst/>
          </a:prstGeom>
          <a:ln>
            <a:noFill/>
          </a:ln>
          <a:effectLst>
            <a:softEdge rad="112500"/>
          </a:effectLst>
        </p:spPr>
      </p:pic>
      <p:sp>
        <p:nvSpPr>
          <p:cNvPr id="4" name="Content Placeholder 3">
            <a:extLst>
              <a:ext uri="{FF2B5EF4-FFF2-40B4-BE49-F238E27FC236}">
                <a16:creationId xmlns:a16="http://schemas.microsoft.com/office/drawing/2014/main" id="{B20C1E08-E337-110E-DB8E-41BA4A3341A1}"/>
              </a:ext>
            </a:extLst>
          </p:cNvPr>
          <p:cNvSpPr>
            <a:spLocks noGrp="1"/>
          </p:cNvSpPr>
          <p:nvPr>
            <p:ph sz="quarter" idx="4294967295"/>
          </p:nvPr>
        </p:nvSpPr>
        <p:spPr>
          <a:xfrm>
            <a:off x="1587" y="3413125"/>
            <a:ext cx="5181600" cy="3128963"/>
          </a:xfrm>
        </p:spPr>
        <p:txBody>
          <a:bodyPr>
            <a:normAutofit fontScale="70000" lnSpcReduction="20000"/>
          </a:bodyPr>
          <a:lstStyle/>
          <a:p>
            <a:r>
              <a:rPr lang="en-US" dirty="0"/>
              <a:t>In many communities, skilled workers such as plumbers, electricians, and carpenters rely on word-of-mouth or local contacts to find jobs. This often leads to irregular work opportunities and limited visibility for their skills. At the same time, customers find it difficult to locate reliable and nearby service providers quickly. A digital platform can help bridge this gap by connecting skilled workers and customers in a simple and efficient way.</a:t>
            </a:r>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294967295"/>
          </p:nvPr>
        </p:nvSpPr>
        <p:spPr>
          <a:xfrm>
            <a:off x="0" y="6246813"/>
            <a:ext cx="631825" cy="29527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42059410"/>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FD5F-786B-1974-5F47-94CA02CFA6E5}"/>
              </a:ext>
            </a:extLst>
          </p:cNvPr>
          <p:cNvSpPr>
            <a:spLocks noGrp="1"/>
          </p:cNvSpPr>
          <p:nvPr>
            <p:ph type="title"/>
          </p:nvPr>
        </p:nvSpPr>
        <p:spPr>
          <a:xfrm>
            <a:off x="462798" y="739371"/>
            <a:ext cx="4805997" cy="2689629"/>
          </a:xfrm>
        </p:spPr>
        <p:txBody>
          <a:bodyPr/>
          <a:lstStyle/>
          <a:p>
            <a:r>
              <a:rPr lang="en-US" dirty="0">
                <a:solidFill>
                  <a:schemeClr val="bg1"/>
                </a:solidFill>
              </a:rPr>
              <a:t>PROBLEM STATEMENT</a:t>
            </a:r>
          </a:p>
        </p:txBody>
      </p:sp>
      <p:sp>
        <p:nvSpPr>
          <p:cNvPr id="3" name="Content Placeholder 2">
            <a:extLst>
              <a:ext uri="{FF2B5EF4-FFF2-40B4-BE49-F238E27FC236}">
                <a16:creationId xmlns:a16="http://schemas.microsoft.com/office/drawing/2014/main" id="{1E3B9C3B-4EA8-C97A-16B6-E60B300A992B}"/>
              </a:ext>
            </a:extLst>
          </p:cNvPr>
          <p:cNvSpPr>
            <a:spLocks noGrp="1"/>
          </p:cNvSpPr>
          <p:nvPr>
            <p:ph sz="quarter" idx="10"/>
          </p:nvPr>
        </p:nvSpPr>
        <p:spPr>
          <a:xfrm>
            <a:off x="462797" y="3958386"/>
            <a:ext cx="7897432" cy="2389736"/>
          </a:xfrm>
        </p:spPr>
        <p:txBody>
          <a:bodyPr>
            <a:normAutofit/>
          </a:bodyPr>
          <a:lstStyle/>
          <a:p>
            <a:r>
              <a:rPr lang="en-US" dirty="0"/>
              <a:t>Many skilled home repair workers such as plumbers, electricians, and carpenters face irregular job opportunities, which leads to unstable income. At the same time, customers often struggle to find reliable and nearby professionals for their service needs. Existing platforms are not always accessible or suitable for local workers.</a:t>
            </a:r>
            <a:endParaRPr lang="en-IN" dirty="0"/>
          </a:p>
        </p:txBody>
      </p:sp>
    </p:spTree>
    <p:extLst>
      <p:ext uri="{BB962C8B-B14F-4D97-AF65-F5344CB8AC3E}">
        <p14:creationId xmlns:p14="http://schemas.microsoft.com/office/powerpoint/2010/main" val="429374299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42642">
              <a:srgbClr val="3882C4"/>
            </a:gs>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DD59383-E6CD-CF57-B9CF-5820B1CECE61}"/>
              </a:ext>
            </a:extLst>
          </p:cNvPr>
          <p:cNvSpPr>
            <a:spLocks noGrp="1"/>
          </p:cNvSpPr>
          <p:nvPr>
            <p:ph type="title"/>
          </p:nvPr>
        </p:nvSpPr>
        <p:spPr>
          <a:xfrm>
            <a:off x="305240" y="1090398"/>
            <a:ext cx="4805997" cy="2689629"/>
          </a:xfrm>
        </p:spPr>
        <p:txBody>
          <a:bodyPr/>
          <a:lstStyle/>
          <a:p>
            <a:r>
              <a:rPr lang="en-US" dirty="0">
                <a:solidFill>
                  <a:schemeClr val="bg1"/>
                </a:solidFill>
              </a:rPr>
              <a:t>project objective</a:t>
            </a:r>
          </a:p>
        </p:txBody>
      </p:sp>
      <p:sp>
        <p:nvSpPr>
          <p:cNvPr id="2" name="Content Placeholder 1">
            <a:extLst>
              <a:ext uri="{FF2B5EF4-FFF2-40B4-BE49-F238E27FC236}">
                <a16:creationId xmlns:a16="http://schemas.microsoft.com/office/drawing/2014/main" id="{E6307560-A5BA-2285-6FAD-C2B91AFF8238}"/>
              </a:ext>
            </a:extLst>
          </p:cNvPr>
          <p:cNvSpPr>
            <a:spLocks noGrp="1" noChangeArrowheads="1"/>
          </p:cNvSpPr>
          <p:nvPr>
            <p:ph sz="quarter" idx="10"/>
          </p:nvPr>
        </p:nvSpPr>
        <p:spPr bwMode="auto">
          <a:xfrm>
            <a:off x="276043" y="4146025"/>
            <a:ext cx="967038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a:t>
            </a:r>
            <a:r>
              <a:rPr kumimoji="0" lang="en-US" altLang="en-US" sz="1800" b="1" i="0" u="none" strike="noStrike" cap="none" normalizeH="0" baseline="0" dirty="0">
                <a:ln>
                  <a:noFill/>
                </a:ln>
                <a:solidFill>
                  <a:schemeClr val="tx1"/>
                </a:solidFill>
                <a:effectLst/>
                <a:latin typeface="Arial" panose="020B0604020202020204" pitchFamily="34" charset="0"/>
              </a:rPr>
              <a:t>web platform</a:t>
            </a:r>
            <a:r>
              <a:rPr kumimoji="0" lang="en-US" altLang="en-US" sz="1800" b="0" i="0" u="none" strike="noStrike" cap="none" normalizeH="0" baseline="0" dirty="0">
                <a:ln>
                  <a:noFill/>
                </a:ln>
                <a:solidFill>
                  <a:schemeClr val="tx1"/>
                </a:solidFill>
                <a:effectLst/>
                <a:latin typeface="Arial" panose="020B0604020202020204" pitchFamily="34" charset="0"/>
              </a:rPr>
              <a:t> connecting customers with skilled workers.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Make it easy for users to </a:t>
            </a:r>
            <a:r>
              <a:rPr kumimoji="0" lang="en-US" altLang="en-US" sz="1800" b="1" i="0" u="none" strike="noStrike" cap="none" normalizeH="0" baseline="0" dirty="0">
                <a:ln>
                  <a:noFill/>
                </a:ln>
                <a:solidFill>
                  <a:schemeClr val="tx1"/>
                </a:solidFill>
                <a:effectLst/>
                <a:latin typeface="Arial" panose="020B0604020202020204" pitchFamily="34" charset="0"/>
              </a:rPr>
              <a:t>search and find nearby service providers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a:t>
            </a:r>
            <a:r>
              <a:rPr kumimoji="0" lang="en-US" altLang="en-US" sz="1800" b="1" i="0" u="none" strike="noStrike" cap="none" normalizeH="0" baseline="0" dirty="0">
                <a:ln>
                  <a:noFill/>
                </a:ln>
                <a:solidFill>
                  <a:schemeClr val="tx1"/>
                </a:solidFill>
                <a:effectLst/>
                <a:latin typeface="Arial" panose="020B0604020202020204" pitchFamily="34" charset="0"/>
              </a:rPr>
              <a:t>better job opportunities</a:t>
            </a:r>
            <a:r>
              <a:rPr kumimoji="0" lang="en-US" altLang="en-US" sz="1800" b="0" i="0" u="none" strike="noStrike" cap="none" normalizeH="0" baseline="0" dirty="0">
                <a:ln>
                  <a:noFill/>
                </a:ln>
                <a:solidFill>
                  <a:schemeClr val="tx1"/>
                </a:solidFill>
                <a:effectLst/>
                <a:latin typeface="Arial" panose="020B0604020202020204" pitchFamily="34" charset="0"/>
              </a:rPr>
              <a:t> for local workers.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 a </a:t>
            </a:r>
            <a:r>
              <a:rPr kumimoji="0" lang="en-US" altLang="en-US" sz="1800" b="1" i="0" u="none" strike="noStrike" cap="none" normalizeH="0" baseline="0" dirty="0">
                <a:ln>
                  <a:noFill/>
                </a:ln>
                <a:solidFill>
                  <a:schemeClr val="tx1"/>
                </a:solidFill>
                <a:effectLst/>
                <a:latin typeface="Arial" panose="020B0604020202020204" pitchFamily="34" charset="0"/>
              </a:rPr>
              <a:t>simple and user-friendly interface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a:t>
            </a:r>
            <a:r>
              <a:rPr kumimoji="0" lang="en-US" altLang="en-US" sz="1800" b="1" i="0" u="none" strike="noStrike" cap="none" normalizeH="0" baseline="0" dirty="0">
                <a:ln>
                  <a:noFill/>
                </a:ln>
                <a:solidFill>
                  <a:schemeClr val="tx1"/>
                </a:solidFill>
                <a:effectLst/>
                <a:latin typeface="Arial" panose="020B0604020202020204" pitchFamily="34" charset="0"/>
              </a:rPr>
              <a:t>accessibility and reliability</a:t>
            </a:r>
            <a:r>
              <a:rPr kumimoji="0" lang="en-US" altLang="en-US" sz="1800" b="0" i="0" u="none" strike="noStrike" cap="none" normalizeH="0" baseline="0" dirty="0">
                <a:ln>
                  <a:noFill/>
                </a:ln>
                <a:solidFill>
                  <a:schemeClr val="tx1"/>
                </a:solidFill>
                <a:effectLst/>
                <a:latin typeface="Arial" panose="020B0604020202020204" pitchFamily="34" charset="0"/>
              </a:rPr>
              <a:t> of local services.</a:t>
            </a:r>
          </a:p>
        </p:txBody>
      </p:sp>
    </p:spTree>
    <p:extLst>
      <p:ext uri="{BB962C8B-B14F-4D97-AF65-F5344CB8AC3E}">
        <p14:creationId xmlns:p14="http://schemas.microsoft.com/office/powerpoint/2010/main" val="56176599"/>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136482" y="1276913"/>
            <a:ext cx="6598389" cy="869947"/>
          </a:xfrm>
        </p:spPr>
        <p:txBody>
          <a:bodyPr/>
          <a:lstStyle/>
          <a:p>
            <a:r>
              <a:rPr lang="en-US" dirty="0">
                <a:solidFill>
                  <a:schemeClr val="bg1"/>
                </a:solidFill>
              </a:rPr>
              <a:t>PROPOSED SOLUTION</a:t>
            </a:r>
            <a:r>
              <a:rPr lang="en-US" sz="3200" dirty="0">
                <a:solidFill>
                  <a:schemeClr val="bg1"/>
                </a:solidFill>
              </a:rPr>
              <a:t> </a:t>
            </a:r>
          </a:p>
        </p:txBody>
      </p:sp>
      <p:pic>
        <p:nvPicPr>
          <p:cNvPr id="8" name="Picture Placeholder 7">
            <a:extLst>
              <a:ext uri="{FF2B5EF4-FFF2-40B4-BE49-F238E27FC236}">
                <a16:creationId xmlns:a16="http://schemas.microsoft.com/office/drawing/2014/main" id="{3FD95A62-CE14-198B-D756-752DE7A7C64F}"/>
              </a:ext>
            </a:extLst>
          </p:cNvPr>
          <p:cNvPicPr>
            <a:picLocks noGrp="1" noChangeAspect="1"/>
          </p:cNvPicPr>
          <p:nvPr>
            <p:ph type="pic" sz="quarter" idx="10"/>
          </p:nvPr>
        </p:nvPicPr>
        <p:blipFill>
          <a:blip r:embed="rId3"/>
          <a:srcRect t="11808" b="11808"/>
          <a:stretch>
            <a:fillRect/>
          </a:stretch>
        </p:blipFill>
        <p:spPr>
          <a:xfrm>
            <a:off x="9294813" y="0"/>
            <a:ext cx="2897187" cy="24886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294967295"/>
          </p:nvPr>
        </p:nvSpPr>
        <p:spPr>
          <a:xfrm>
            <a:off x="0" y="6246813"/>
            <a:ext cx="631825" cy="295275"/>
          </a:xfrm>
        </p:spPr>
        <p:txBody>
          <a:bodyPr/>
          <a:lstStyle/>
          <a:p>
            <a:fld id="{B5CEABB6-07DC-46E8-9B57-56EC44A396E5}" type="slidenum">
              <a:rPr lang="en-US" smtClean="0"/>
              <a:pPr/>
              <a:t>5</a:t>
            </a:fld>
            <a:endParaRPr lang="en-US" dirty="0"/>
          </a:p>
        </p:txBody>
      </p:sp>
      <p:sp>
        <p:nvSpPr>
          <p:cNvPr id="5" name="Rectangle 1">
            <a:extLst>
              <a:ext uri="{FF2B5EF4-FFF2-40B4-BE49-F238E27FC236}">
                <a16:creationId xmlns:a16="http://schemas.microsoft.com/office/drawing/2014/main" id="{2ECD0970-0442-A7E8-AA10-2FCA7AB66C30}"/>
              </a:ext>
            </a:extLst>
          </p:cNvPr>
          <p:cNvSpPr>
            <a:spLocks noGrp="1" noChangeArrowheads="1"/>
          </p:cNvSpPr>
          <p:nvPr>
            <p:ph sz="quarter" idx="4294967295"/>
          </p:nvPr>
        </p:nvSpPr>
        <p:spPr bwMode="auto">
          <a:xfrm>
            <a:off x="0" y="2488686"/>
            <a:ext cx="10542588"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Develop a </a:t>
            </a:r>
            <a:r>
              <a:rPr kumimoji="0" lang="en-US" altLang="en-US" sz="2400" b="1" i="0" u="none" strike="noStrike" cap="none" normalizeH="0" baseline="0" dirty="0">
                <a:ln>
                  <a:noFill/>
                </a:ln>
                <a:solidFill>
                  <a:schemeClr val="tx1"/>
                </a:solidFill>
                <a:effectLst/>
                <a:latin typeface="Arial" panose="020B0604020202020204" pitchFamily="34" charset="0"/>
              </a:rPr>
              <a:t>web-based platform</a:t>
            </a:r>
            <a:r>
              <a:rPr kumimoji="0" lang="en-US" altLang="en-US" sz="2400" b="0" i="0" u="none" strike="noStrike" cap="none" normalizeH="0" baseline="0" dirty="0">
                <a:ln>
                  <a:noFill/>
                </a:ln>
                <a:solidFill>
                  <a:schemeClr val="tx1"/>
                </a:solidFill>
                <a:effectLst/>
                <a:latin typeface="Arial" panose="020B0604020202020204" pitchFamily="34" charset="0"/>
              </a:rPr>
              <a:t> connecting customers and skilled workers.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Allow workers to </a:t>
            </a:r>
            <a:r>
              <a:rPr kumimoji="0" lang="en-US" altLang="en-US" sz="2400" b="1" i="0" u="none" strike="noStrike" cap="none" normalizeH="0" baseline="0" dirty="0">
                <a:ln>
                  <a:noFill/>
                </a:ln>
                <a:solidFill>
                  <a:schemeClr val="tx1"/>
                </a:solidFill>
                <a:effectLst/>
                <a:latin typeface="Arial" panose="020B0604020202020204" pitchFamily="34" charset="0"/>
              </a:rPr>
              <a:t>register their skills and services</a:t>
            </a:r>
            <a:r>
              <a:rPr kumimoji="0" lang="en-US" altLang="en-US" sz="2400" b="0" i="0" u="none" strike="noStrike" cap="none" normalizeH="0" baseline="0" dirty="0">
                <a:ln>
                  <a:noFill/>
                </a:ln>
                <a:solidFill>
                  <a:schemeClr val="tx1"/>
                </a:solidFill>
                <a:effectLst/>
                <a:latin typeface="Arial" panose="020B0604020202020204" pitchFamily="34" charset="0"/>
              </a:rPr>
              <a:t> on the website.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Enable customers to </a:t>
            </a:r>
            <a:r>
              <a:rPr kumimoji="0" lang="en-US" altLang="en-US" sz="2400" b="1" i="0" u="none" strike="noStrike" cap="none" normalizeH="0" baseline="0" dirty="0">
                <a:ln>
                  <a:noFill/>
                </a:ln>
                <a:solidFill>
                  <a:schemeClr val="tx1"/>
                </a:solidFill>
                <a:effectLst/>
                <a:latin typeface="Arial" panose="020B0604020202020204" pitchFamily="34" charset="0"/>
              </a:rPr>
              <a:t>search for nearby professionals easily</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Provide </a:t>
            </a:r>
            <a:r>
              <a:rPr kumimoji="0" lang="en-US" altLang="en-US" sz="2400" b="1" i="0" u="none" strike="noStrike" cap="none" normalizeH="0" baseline="0" dirty="0">
                <a:ln>
                  <a:noFill/>
                </a:ln>
                <a:solidFill>
                  <a:schemeClr val="tx1"/>
                </a:solidFill>
                <a:effectLst/>
                <a:latin typeface="Arial" panose="020B0604020202020204" pitchFamily="34" charset="0"/>
              </a:rPr>
              <a:t>worker profiles with service details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Make the process of finding services </a:t>
            </a:r>
            <a:r>
              <a:rPr kumimoji="0" lang="en-US" altLang="en-US" sz="2400" b="1" i="0" u="none" strike="noStrike" cap="none" normalizeH="0" baseline="0" dirty="0">
                <a:ln>
                  <a:noFill/>
                </a:ln>
                <a:solidFill>
                  <a:schemeClr val="tx1"/>
                </a:solidFill>
                <a:effectLst/>
                <a:latin typeface="Arial" panose="020B0604020202020204" pitchFamily="34" charset="0"/>
              </a:rPr>
              <a:t>faster and more convenient</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1200063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8221-C29B-07A3-B569-B8B466B1020B}"/>
              </a:ext>
            </a:extLst>
          </p:cNvPr>
          <p:cNvSpPr>
            <a:spLocks noGrp="1"/>
          </p:cNvSpPr>
          <p:nvPr>
            <p:ph type="title"/>
          </p:nvPr>
        </p:nvSpPr>
        <p:spPr>
          <a:xfrm>
            <a:off x="74749" y="3034086"/>
            <a:ext cx="6133807" cy="835728"/>
          </a:xfrm>
        </p:spPr>
        <p:txBody>
          <a:bodyPr/>
          <a:lstStyle/>
          <a:p>
            <a:r>
              <a:rPr lang="en-US" dirty="0"/>
              <a:t>SYSTEM FEATURES</a:t>
            </a:r>
          </a:p>
        </p:txBody>
      </p:sp>
      <p:pic>
        <p:nvPicPr>
          <p:cNvPr id="5" name="Picture Placeholder 4" descr="A person standing in a greenhouse">
            <a:extLst>
              <a:ext uri="{FF2B5EF4-FFF2-40B4-BE49-F238E27FC236}">
                <a16:creationId xmlns:a16="http://schemas.microsoft.com/office/drawing/2014/main" id="{EE30546E-D63D-6DD8-4DA7-41DD51A44C2F}"/>
              </a:ext>
            </a:extLst>
          </p:cNvPr>
          <p:cNvPicPr>
            <a:picLocks noGrp="1" noChangeAspect="1"/>
          </p:cNvPicPr>
          <p:nvPr>
            <p:ph type="pic" sz="quarter" idx="11"/>
          </p:nvPr>
        </p:nvPicPr>
        <p:blipFill>
          <a:blip r:embed="rId3"/>
          <a:srcRect t="12487" b="12487"/>
          <a:stretch/>
        </p:blipFill>
        <p:spPr>
          <a:xfrm>
            <a:off x="74749" y="107576"/>
            <a:ext cx="2446369" cy="27521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1">
            <a:extLst>
              <a:ext uri="{FF2B5EF4-FFF2-40B4-BE49-F238E27FC236}">
                <a16:creationId xmlns:a16="http://schemas.microsoft.com/office/drawing/2014/main" id="{87B3AC4A-B788-619F-66E2-235A1E4F3DB2}"/>
              </a:ext>
            </a:extLst>
          </p:cNvPr>
          <p:cNvSpPr>
            <a:spLocks noGrp="1" noChangeArrowheads="1"/>
          </p:cNvSpPr>
          <p:nvPr>
            <p:ph sz="quarter" idx="10"/>
          </p:nvPr>
        </p:nvSpPr>
        <p:spPr bwMode="auto">
          <a:xfrm>
            <a:off x="74749" y="3869814"/>
            <a:ext cx="4897438" cy="230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Worker Registration</a:t>
            </a:r>
            <a:r>
              <a:rPr kumimoji="0" lang="en-US" altLang="en-US" sz="1800" b="0" i="0" u="none" strike="noStrike" cap="none" normalizeH="0" baseline="0" dirty="0">
                <a:ln>
                  <a:noFill/>
                </a:ln>
                <a:solidFill>
                  <a:schemeClr val="tx1"/>
                </a:solidFill>
                <a:effectLst/>
                <a:latin typeface="Arial" panose="020B0604020202020204" pitchFamily="34" charset="0"/>
              </a:rPr>
              <a:t> – Workers can create profiles and list their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Service Search</a:t>
            </a:r>
            <a:r>
              <a:rPr kumimoji="0" lang="en-US" altLang="en-US" sz="1800" b="0" i="0" u="none" strike="noStrike" cap="none" normalizeH="0" baseline="0" dirty="0">
                <a:ln>
                  <a:noFill/>
                </a:ln>
                <a:solidFill>
                  <a:schemeClr val="tx1"/>
                </a:solidFill>
                <a:effectLst/>
                <a:latin typeface="Arial" panose="020B0604020202020204" pitchFamily="34" charset="0"/>
              </a:rPr>
              <a:t> – Customers can find services based on their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Worker Profiles</a:t>
            </a:r>
            <a:r>
              <a:rPr kumimoji="0" lang="en-US" altLang="en-US" sz="1800" b="0" i="0" u="none" strike="noStrike" cap="none" normalizeH="0" baseline="0" dirty="0">
                <a:ln>
                  <a:noFill/>
                </a:ln>
                <a:solidFill>
                  <a:schemeClr val="tx1"/>
                </a:solidFill>
                <a:effectLst/>
                <a:latin typeface="Arial" panose="020B0604020202020204" pitchFamily="34" charset="0"/>
              </a:rPr>
              <a:t> – Users can view service details and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User-Friendly Interface</a:t>
            </a:r>
            <a:r>
              <a:rPr kumimoji="0" lang="en-US" altLang="en-US" sz="1800" b="0" i="0" u="none" strike="noStrike" cap="none" normalizeH="0" baseline="0" dirty="0">
                <a:ln>
                  <a:noFill/>
                </a:ln>
                <a:solidFill>
                  <a:schemeClr val="tx1"/>
                </a:solidFill>
                <a:effectLst/>
                <a:latin typeface="Arial" panose="020B0604020202020204" pitchFamily="34" charset="0"/>
              </a:rPr>
              <a:t> – Simple and easy navigation for all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Quick Access to Services</a:t>
            </a:r>
            <a:r>
              <a:rPr kumimoji="0" lang="en-US" altLang="en-US" sz="1800" b="0" i="0" u="none" strike="noStrike" cap="none" normalizeH="0" baseline="0" dirty="0">
                <a:ln>
                  <a:noFill/>
                </a:ln>
                <a:solidFill>
                  <a:schemeClr val="tx1"/>
                </a:solidFill>
                <a:effectLst/>
                <a:latin typeface="Arial" panose="020B0604020202020204" pitchFamily="34" charset="0"/>
              </a:rPr>
              <a:t> – Helps customers find professionals faster.</a:t>
            </a:r>
          </a:p>
        </p:txBody>
      </p:sp>
    </p:spTree>
    <p:extLst>
      <p:ext uri="{BB962C8B-B14F-4D97-AF65-F5344CB8AC3E}">
        <p14:creationId xmlns:p14="http://schemas.microsoft.com/office/powerpoint/2010/main" val="1760417424"/>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50259" y="2187442"/>
            <a:ext cx="5985323" cy="1344686"/>
          </a:xfrm>
        </p:spPr>
        <p:txBody>
          <a:bodyPr/>
          <a:lstStyle/>
          <a:p>
            <a:r>
              <a:rPr lang="en-US" dirty="0"/>
              <a:t>THE UI</a:t>
            </a:r>
          </a:p>
        </p:txBody>
      </p:sp>
      <p:pic>
        <p:nvPicPr>
          <p:cNvPr id="10" name="Picture Placeholder 9">
            <a:extLst>
              <a:ext uri="{FF2B5EF4-FFF2-40B4-BE49-F238E27FC236}">
                <a16:creationId xmlns:a16="http://schemas.microsoft.com/office/drawing/2014/main" id="{C82BEBE5-C648-67A2-EC74-46C602F9F2D6}"/>
              </a:ext>
            </a:extLst>
          </p:cNvPr>
          <p:cNvPicPr>
            <a:picLocks noGrp="1" noChangeAspect="1"/>
          </p:cNvPicPr>
          <p:nvPr>
            <p:ph type="pic" sz="quarter" idx="10"/>
          </p:nvPr>
        </p:nvPicPr>
        <p:blipFill>
          <a:blip r:embed="rId3"/>
          <a:srcRect t="7322" b="7322"/>
          <a:stretch>
            <a:fillRect/>
          </a:stretch>
        </p:blipFill>
        <p:spPr>
          <a:xfrm>
            <a:off x="7196343" y="1030941"/>
            <a:ext cx="4945398" cy="4419407"/>
          </a:xfrm>
          <a:prstGeom prst="roundRect">
            <a:avLst>
              <a:gd name="adj" fmla="val 11752"/>
            </a:avLst>
          </a:prstGeom>
          <a:solidFill>
            <a:srgbClr val="FFFFFF">
              <a:shade val="85000"/>
            </a:srgbClr>
          </a:solidFill>
          <a:ln>
            <a:noFill/>
          </a:ln>
          <a:effectLst>
            <a:reflection blurRad="12700" stA="38000" endPos="28000" dist="5000" dir="5400000" sy="-100000" algn="bl" rotWithShape="0"/>
          </a:effectLst>
        </p:spPr>
      </p:pic>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294967295"/>
          </p:nvPr>
        </p:nvSpPr>
        <p:spPr>
          <a:xfrm>
            <a:off x="0" y="6246813"/>
            <a:ext cx="631825" cy="295275"/>
          </a:xfrm>
        </p:spPr>
        <p:txBody>
          <a:bodyPr/>
          <a:lstStyle/>
          <a:p>
            <a:fld id="{B5CEABB6-07DC-46E8-9B57-56EC44A396E5}" type="slidenum">
              <a:rPr lang="en-US" smtClean="0"/>
              <a:pPr/>
              <a:t>7</a:t>
            </a:fld>
            <a:endParaRPr lang="en-US" dirty="0"/>
          </a:p>
        </p:txBody>
      </p:sp>
      <p:sp>
        <p:nvSpPr>
          <p:cNvPr id="7" name="Rectangle 1">
            <a:extLst>
              <a:ext uri="{FF2B5EF4-FFF2-40B4-BE49-F238E27FC236}">
                <a16:creationId xmlns:a16="http://schemas.microsoft.com/office/drawing/2014/main" id="{15250DDF-3EB0-DF01-E3DC-B624E96A3EA5}"/>
              </a:ext>
            </a:extLst>
          </p:cNvPr>
          <p:cNvSpPr>
            <a:spLocks noGrp="1" noChangeArrowheads="1"/>
          </p:cNvSpPr>
          <p:nvPr>
            <p:ph sz="quarter" idx="4294967295"/>
          </p:nvPr>
        </p:nvSpPr>
        <p:spPr bwMode="auto">
          <a:xfrm>
            <a:off x="0" y="3532128"/>
            <a:ext cx="704625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website is designed with a </a:t>
            </a:r>
            <a:r>
              <a:rPr kumimoji="0" lang="en-US" altLang="en-US" sz="1800" b="1" i="0" u="none" strike="noStrike" cap="none" normalizeH="0" baseline="0" dirty="0">
                <a:ln>
                  <a:noFill/>
                </a:ln>
                <a:solidFill>
                  <a:schemeClr val="tx1"/>
                </a:solidFill>
                <a:effectLst/>
                <a:latin typeface="Arial" panose="020B0604020202020204" pitchFamily="34" charset="0"/>
              </a:rPr>
              <a:t>clean and simple user interface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home page</a:t>
            </a:r>
            <a:r>
              <a:rPr kumimoji="0" lang="en-US" altLang="en-US" sz="1800" b="0" i="0" u="none" strike="noStrike" cap="none" normalizeH="0" baseline="0" dirty="0">
                <a:ln>
                  <a:noFill/>
                </a:ln>
                <a:solidFill>
                  <a:schemeClr val="tx1"/>
                </a:solidFill>
                <a:effectLst/>
                <a:latin typeface="Arial" panose="020B0604020202020204" pitchFamily="34" charset="0"/>
              </a:rPr>
              <a:t> allows users to explore available services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service listing page</a:t>
            </a:r>
            <a:r>
              <a:rPr kumimoji="0" lang="en-US" altLang="en-US" sz="1800" b="0" i="0" u="none" strike="noStrike" cap="none" normalizeH="0" baseline="0" dirty="0">
                <a:ln>
                  <a:noFill/>
                </a:ln>
                <a:solidFill>
                  <a:schemeClr val="tx1"/>
                </a:solidFill>
                <a:effectLst/>
                <a:latin typeface="Arial" panose="020B0604020202020204" pitchFamily="34" charset="0"/>
              </a:rPr>
              <a:t> shows different skilled workers and their services.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worker profile page</a:t>
            </a:r>
            <a:r>
              <a:rPr kumimoji="0" lang="en-US" altLang="en-US" sz="1800" b="0" i="0" u="none" strike="noStrike" cap="none" normalizeH="0" baseline="0" dirty="0">
                <a:ln>
                  <a:noFill/>
                </a:ln>
                <a:solidFill>
                  <a:schemeClr val="tx1"/>
                </a:solidFill>
                <a:effectLst/>
                <a:latin typeface="Arial" panose="020B0604020202020204" pitchFamily="34" charset="0"/>
              </a:rPr>
              <a:t> displays service details and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design focuses on </a:t>
            </a:r>
            <a:r>
              <a:rPr kumimoji="0" lang="en-US" altLang="en-US" sz="1800" b="1" i="0" u="none" strike="noStrike" cap="none" normalizeH="0" baseline="0" dirty="0">
                <a:ln>
                  <a:noFill/>
                </a:ln>
                <a:solidFill>
                  <a:schemeClr val="tx1"/>
                </a:solidFill>
                <a:effectLst/>
                <a:latin typeface="Arial" panose="020B0604020202020204" pitchFamily="34" charset="0"/>
              </a:rPr>
              <a:t>easy navigation and user convenience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040347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B0AE-5ADD-1975-6BDD-38608925072A}"/>
              </a:ext>
            </a:extLst>
          </p:cNvPr>
          <p:cNvSpPr>
            <a:spLocks noGrp="1"/>
          </p:cNvSpPr>
          <p:nvPr>
            <p:ph type="title"/>
          </p:nvPr>
        </p:nvSpPr>
        <p:spPr>
          <a:xfrm>
            <a:off x="0" y="3624846"/>
            <a:ext cx="3738282" cy="884400"/>
          </a:xfrm>
        </p:spPr>
        <p:txBody>
          <a:bodyPr/>
          <a:lstStyle/>
          <a:p>
            <a:r>
              <a:rPr lang="en-US" dirty="0">
                <a:solidFill>
                  <a:schemeClr val="bg1"/>
                </a:solidFill>
              </a:rPr>
              <a:t>TOOLS USED </a:t>
            </a:r>
          </a:p>
        </p:txBody>
      </p:sp>
      <p:pic>
        <p:nvPicPr>
          <p:cNvPr id="11" name="Picture Placeholder 10">
            <a:extLst>
              <a:ext uri="{FF2B5EF4-FFF2-40B4-BE49-F238E27FC236}">
                <a16:creationId xmlns:a16="http://schemas.microsoft.com/office/drawing/2014/main" id="{421069DF-D850-7AC7-9678-3C5481503416}"/>
              </a:ext>
            </a:extLst>
          </p:cNvPr>
          <p:cNvPicPr>
            <a:picLocks noGrp="1" noChangeAspect="1"/>
          </p:cNvPicPr>
          <p:nvPr>
            <p:ph type="pic" sz="quarter" idx="10"/>
          </p:nvPr>
        </p:nvPicPr>
        <p:blipFill>
          <a:blip r:embed="rId3"/>
          <a:srcRect l="-946" r="38143"/>
          <a:stretch>
            <a:fillRect/>
          </a:stretch>
        </p:blipFill>
        <p:spPr>
          <a:xfrm>
            <a:off x="6533709" y="-458028"/>
            <a:ext cx="5293707" cy="594442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Slide Number Placeholder 4">
            <a:extLst>
              <a:ext uri="{FF2B5EF4-FFF2-40B4-BE49-F238E27FC236}">
                <a16:creationId xmlns:a16="http://schemas.microsoft.com/office/drawing/2014/main" id="{4D27E5DB-AFB6-9088-87C9-1F671C0B0330}"/>
              </a:ext>
            </a:extLst>
          </p:cNvPr>
          <p:cNvSpPr>
            <a:spLocks noGrp="1"/>
          </p:cNvSpPr>
          <p:nvPr>
            <p:ph type="sldNum" sz="quarter" idx="4294967295"/>
          </p:nvPr>
        </p:nvSpPr>
        <p:spPr>
          <a:xfrm>
            <a:off x="0" y="6246813"/>
            <a:ext cx="631825" cy="295275"/>
          </a:xfrm>
        </p:spPr>
        <p:txBody>
          <a:bodyPr/>
          <a:lstStyle/>
          <a:p>
            <a:fld id="{B5CEABB6-07DC-46E8-9B57-56EC44A396E5}" type="slidenum">
              <a:rPr lang="en-US" smtClean="0"/>
              <a:pPr/>
              <a:t>8</a:t>
            </a:fld>
            <a:endParaRPr lang="en-US" dirty="0"/>
          </a:p>
        </p:txBody>
      </p:sp>
      <p:sp>
        <p:nvSpPr>
          <p:cNvPr id="6" name="Rectangle 1">
            <a:extLst>
              <a:ext uri="{FF2B5EF4-FFF2-40B4-BE49-F238E27FC236}">
                <a16:creationId xmlns:a16="http://schemas.microsoft.com/office/drawing/2014/main" id="{5BCADC41-AB9F-8784-140B-92441FEC1824}"/>
              </a:ext>
            </a:extLst>
          </p:cNvPr>
          <p:cNvSpPr>
            <a:spLocks noGrp="1" noChangeArrowheads="1"/>
          </p:cNvSpPr>
          <p:nvPr>
            <p:ph sz="quarter" idx="4294967295"/>
          </p:nvPr>
        </p:nvSpPr>
        <p:spPr bwMode="auto">
          <a:xfrm>
            <a:off x="0" y="4639048"/>
            <a:ext cx="8255000"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HTML</a:t>
            </a:r>
            <a:r>
              <a:rPr kumimoji="0" lang="en-US" altLang="en-US" sz="1800" b="0" i="0" u="none" strike="noStrike" cap="none" normalizeH="0" baseline="0" dirty="0">
                <a:ln>
                  <a:noFill/>
                </a:ln>
                <a:solidFill>
                  <a:schemeClr val="tx1"/>
                </a:solidFill>
                <a:effectLst/>
                <a:latin typeface="Arial" panose="020B0604020202020204" pitchFamily="34" charset="0"/>
              </a:rPr>
              <a:t> – Used to create the structure of the website.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CSS</a:t>
            </a:r>
            <a:r>
              <a:rPr kumimoji="0" lang="en-US" altLang="en-US" sz="1800" b="0" i="0" u="none" strike="noStrike" cap="none" normalizeH="0" baseline="0" dirty="0">
                <a:ln>
                  <a:noFill/>
                </a:ln>
                <a:solidFill>
                  <a:schemeClr val="tx1"/>
                </a:solidFill>
                <a:effectLst/>
                <a:latin typeface="Arial" panose="020B0604020202020204" pitchFamily="34" charset="0"/>
              </a:rPr>
              <a:t> – Used for styling and layout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JavaScript</a:t>
            </a:r>
            <a:r>
              <a:rPr kumimoji="0" lang="en-US" altLang="en-US" sz="1800" b="0" i="0" u="none" strike="noStrike" cap="none" normalizeH="0" baseline="0" dirty="0">
                <a:ln>
                  <a:noFill/>
                </a:ln>
                <a:solidFill>
                  <a:schemeClr val="tx1"/>
                </a:solidFill>
                <a:effectLst/>
                <a:latin typeface="Arial" panose="020B0604020202020204" pitchFamily="34" charset="0"/>
              </a:rPr>
              <a:t> – Used for interactive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Studio Code</a:t>
            </a:r>
            <a:r>
              <a:rPr kumimoji="0" lang="en-US" altLang="en-US" sz="1800" b="0" i="0" u="none" strike="noStrike" cap="none" normalizeH="0" baseline="0" dirty="0">
                <a:ln>
                  <a:noFill/>
                </a:ln>
                <a:solidFill>
                  <a:schemeClr val="tx1"/>
                </a:solidFill>
                <a:effectLst/>
                <a:latin typeface="Arial" panose="020B0604020202020204" pitchFamily="34" charset="0"/>
              </a:rPr>
              <a:t> – Used as the development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Web Development Concepts</a:t>
            </a:r>
            <a:r>
              <a:rPr kumimoji="0" lang="en-US" altLang="en-US" sz="1800" b="0" i="0" u="none" strike="noStrike" cap="none" normalizeH="0" baseline="0" dirty="0">
                <a:ln>
                  <a:noFill/>
                </a:ln>
                <a:solidFill>
                  <a:schemeClr val="tx1"/>
                </a:solidFill>
                <a:effectLst/>
                <a:latin typeface="Arial" panose="020B0604020202020204" pitchFamily="34" charset="0"/>
              </a:rPr>
              <a:t> – Used to design and implement the platform.</a:t>
            </a:r>
          </a:p>
        </p:txBody>
      </p:sp>
    </p:spTree>
    <p:extLst>
      <p:ext uri="{BB962C8B-B14F-4D97-AF65-F5344CB8AC3E}">
        <p14:creationId xmlns:p14="http://schemas.microsoft.com/office/powerpoint/2010/main" val="569699605"/>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AA13-E02F-EB47-E510-E3F48A95F847}"/>
              </a:ext>
            </a:extLst>
          </p:cNvPr>
          <p:cNvSpPr>
            <a:spLocks noGrp="1"/>
          </p:cNvSpPr>
          <p:nvPr>
            <p:ph type="title"/>
          </p:nvPr>
        </p:nvSpPr>
        <p:spPr>
          <a:xfrm>
            <a:off x="89647" y="2704626"/>
            <a:ext cx="5179615" cy="1448747"/>
          </a:xfrm>
        </p:spPr>
        <p:txBody>
          <a:bodyPr/>
          <a:lstStyle/>
          <a:p>
            <a:r>
              <a:rPr lang="en-US" dirty="0">
                <a:solidFill>
                  <a:schemeClr val="bg1"/>
                </a:solidFill>
              </a:rPr>
              <a:t>EXPECTED IMPACT</a:t>
            </a:r>
          </a:p>
        </p:txBody>
      </p:sp>
      <p:sp>
        <p:nvSpPr>
          <p:cNvPr id="5" name="Slide Number Placeholder 4">
            <a:extLst>
              <a:ext uri="{FF2B5EF4-FFF2-40B4-BE49-F238E27FC236}">
                <a16:creationId xmlns:a16="http://schemas.microsoft.com/office/drawing/2014/main" id="{1DDD930B-FB1B-543D-6828-8C31F30BBD28}"/>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9</a:t>
            </a:fld>
            <a:endParaRPr lang="en-US" dirty="0"/>
          </a:p>
        </p:txBody>
      </p:sp>
      <p:pic>
        <p:nvPicPr>
          <p:cNvPr id="18" name="Picture Placeholder 17" descr="Two people looking at their phones">
            <a:extLst>
              <a:ext uri="{FF2B5EF4-FFF2-40B4-BE49-F238E27FC236}">
                <a16:creationId xmlns:a16="http://schemas.microsoft.com/office/drawing/2014/main" id="{1609D79A-E8EF-302E-E8CA-07C644CE0E0F}"/>
              </a:ext>
            </a:extLst>
          </p:cNvPr>
          <p:cNvPicPr>
            <a:picLocks noGrp="1" noChangeAspect="1"/>
          </p:cNvPicPr>
          <p:nvPr>
            <p:ph type="pic" sz="quarter" idx="11"/>
          </p:nvPr>
        </p:nvPicPr>
        <p:blipFill>
          <a:blip r:embed="rId3"/>
          <a:srcRect l="81" r="81"/>
          <a:stretch/>
        </p:blipFill>
        <p:spPr>
          <a:xfrm>
            <a:off x="6076950" y="0"/>
            <a:ext cx="6115050" cy="6868886"/>
          </a:xfrm>
        </p:spPr>
      </p:pic>
      <p:sp>
        <p:nvSpPr>
          <p:cNvPr id="4" name="Rectangle 1">
            <a:extLst>
              <a:ext uri="{FF2B5EF4-FFF2-40B4-BE49-F238E27FC236}">
                <a16:creationId xmlns:a16="http://schemas.microsoft.com/office/drawing/2014/main" id="{5A90559E-726D-11C4-B2DB-5C4BAC401068}"/>
              </a:ext>
            </a:extLst>
          </p:cNvPr>
          <p:cNvSpPr>
            <a:spLocks noGrp="1" noChangeArrowheads="1"/>
          </p:cNvSpPr>
          <p:nvPr>
            <p:ph sz="quarter" idx="10"/>
          </p:nvPr>
        </p:nvSpPr>
        <p:spPr bwMode="auto">
          <a:xfrm>
            <a:off x="89647" y="3856489"/>
            <a:ext cx="569258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skilled workers get </a:t>
            </a:r>
            <a:r>
              <a:rPr kumimoji="0" lang="en-US" altLang="en-US" sz="1800" b="1" i="0" u="none" strike="noStrike" cap="none" normalizeH="0" baseline="0" dirty="0">
                <a:ln>
                  <a:noFill/>
                </a:ln>
                <a:solidFill>
                  <a:schemeClr val="tx1"/>
                </a:solidFill>
                <a:effectLst/>
                <a:latin typeface="Arial" panose="020B0604020202020204" pitchFamily="34" charset="0"/>
              </a:rPr>
              <a:t>more job opportunities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Makes it easier for customers to </a:t>
            </a:r>
            <a:r>
              <a:rPr kumimoji="0" lang="en-US" altLang="en-US" sz="1800" b="1" i="0" u="none" strike="noStrike" cap="none" normalizeH="0" baseline="0" dirty="0">
                <a:ln>
                  <a:noFill/>
                </a:ln>
                <a:solidFill>
                  <a:schemeClr val="tx1"/>
                </a:solidFill>
                <a:effectLst/>
                <a:latin typeface="Arial" panose="020B0604020202020204" pitchFamily="34" charset="0"/>
              </a:rPr>
              <a:t>find reliable service providers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Saves time by </a:t>
            </a:r>
            <a:r>
              <a:rPr kumimoji="0" lang="en-US" altLang="en-US" sz="1800" b="1" i="0" u="none" strike="noStrike" cap="none" normalizeH="0" baseline="0" dirty="0">
                <a:ln>
                  <a:noFill/>
                </a:ln>
                <a:solidFill>
                  <a:schemeClr val="tx1"/>
                </a:solidFill>
                <a:effectLst/>
                <a:latin typeface="Arial" panose="020B0604020202020204" pitchFamily="34" charset="0"/>
              </a:rPr>
              <a:t>quickly connecting customers and workers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a:t>
            </a:r>
            <a:r>
              <a:rPr kumimoji="0" lang="en-US" altLang="en-US" sz="1800" b="1" i="0" u="none" strike="noStrike" cap="none" normalizeH="0" baseline="0" dirty="0">
                <a:ln>
                  <a:noFill/>
                </a:ln>
                <a:solidFill>
                  <a:schemeClr val="tx1"/>
                </a:solidFill>
                <a:effectLst/>
                <a:latin typeface="Arial" panose="020B0604020202020204" pitchFamily="34" charset="0"/>
              </a:rPr>
              <a:t>community development and employment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17447069"/>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2B2F-534F-A196-1186-33D282CE3C7F}"/>
              </a:ext>
            </a:extLst>
          </p:cNvPr>
          <p:cNvSpPr>
            <a:spLocks noGrp="1"/>
          </p:cNvSpPr>
          <p:nvPr>
            <p:ph type="title"/>
          </p:nvPr>
        </p:nvSpPr>
        <p:spPr>
          <a:xfrm>
            <a:off x="914399" y="365125"/>
            <a:ext cx="10363202" cy="1603462"/>
          </a:xfrm>
        </p:spPr>
        <p:txBody>
          <a:bodyPr/>
          <a:lstStyle/>
          <a:p>
            <a:r>
              <a:rPr lang="en-US" dirty="0">
                <a:solidFill>
                  <a:schemeClr val="bg1"/>
                </a:solidFill>
              </a:rPr>
              <a:t>Market overview</a:t>
            </a:r>
          </a:p>
        </p:txBody>
      </p:sp>
      <p:sp>
        <p:nvSpPr>
          <p:cNvPr id="3" name="Content Placeholder 2">
            <a:extLst>
              <a:ext uri="{FF2B5EF4-FFF2-40B4-BE49-F238E27FC236}">
                <a16:creationId xmlns:a16="http://schemas.microsoft.com/office/drawing/2014/main" id="{93C71586-1388-197C-1294-83D4DD85293E}"/>
              </a:ext>
            </a:extLst>
          </p:cNvPr>
          <p:cNvSpPr>
            <a:spLocks noGrp="1"/>
          </p:cNvSpPr>
          <p:nvPr>
            <p:ph sz="quarter" idx="10"/>
          </p:nvPr>
        </p:nvSpPr>
        <p:spPr>
          <a:xfrm>
            <a:off x="914399" y="2022250"/>
            <a:ext cx="3299013" cy="3914910"/>
          </a:xfrm>
        </p:spPr>
        <p:txBody>
          <a:bodyPr/>
          <a:lstStyle/>
          <a:p>
            <a:r>
              <a:rPr lang="en-US" dirty="0"/>
              <a:t>Opportunity to build</a:t>
            </a:r>
          </a:p>
          <a:p>
            <a:r>
              <a:rPr lang="en-US" dirty="0"/>
              <a:t>Fully inclusive market</a:t>
            </a:r>
          </a:p>
          <a:p>
            <a:r>
              <a:rPr lang="en-US" dirty="0"/>
              <a:t>Total addressable market</a:t>
            </a:r>
          </a:p>
          <a:p>
            <a:r>
              <a:rPr lang="en-US" noProof="1"/>
              <a:t>Freedom to invent</a:t>
            </a:r>
            <a:endParaRPr lang="en-US" dirty="0"/>
          </a:p>
          <a:p>
            <a:r>
              <a:rPr lang="en-US" noProof="1"/>
              <a:t>Selectively inclusive market</a:t>
            </a:r>
          </a:p>
          <a:p>
            <a:r>
              <a:rPr lang="en-US" noProof="1"/>
              <a:t>Serviceable available market</a:t>
            </a:r>
          </a:p>
        </p:txBody>
      </p:sp>
      <p:graphicFrame>
        <p:nvGraphicFramePr>
          <p:cNvPr id="6" name="Table 11">
            <a:extLst>
              <a:ext uri="{FF2B5EF4-FFF2-40B4-BE49-F238E27FC236}">
                <a16:creationId xmlns:a16="http://schemas.microsoft.com/office/drawing/2014/main" id="{2EE5D6E7-8306-54E8-220A-099D3B755FFE}"/>
              </a:ext>
            </a:extLst>
          </p:cNvPr>
          <p:cNvGraphicFramePr>
            <a:graphicFrameLocks noGrp="1"/>
          </p:cNvGraphicFramePr>
          <p:nvPr>
            <p:ph type="tbl" sz="quarter" idx="11"/>
            <p:extLst>
              <p:ext uri="{D42A27DB-BD31-4B8C-83A1-F6EECF244321}">
                <p14:modId xmlns:p14="http://schemas.microsoft.com/office/powerpoint/2010/main" val="2676182228"/>
              </p:ext>
            </p:extLst>
          </p:nvPr>
        </p:nvGraphicFramePr>
        <p:xfrm>
          <a:off x="4446494" y="1801907"/>
          <a:ext cx="7001434" cy="4799248"/>
        </p:xfrm>
        <a:graphic>
          <a:graphicData uri="http://schemas.openxmlformats.org/drawingml/2006/table">
            <a:tbl>
              <a:tblPr firstRow="1" bandRow="1">
                <a:tableStyleId>{5C22544A-7EE6-4342-B048-85BDC9FD1C3A}</a:tableStyleId>
              </a:tblPr>
              <a:tblGrid>
                <a:gridCol w="626552">
                  <a:extLst>
                    <a:ext uri="{9D8B030D-6E8A-4147-A177-3AD203B41FA5}">
                      <a16:colId xmlns:a16="http://schemas.microsoft.com/office/drawing/2014/main" val="3233966979"/>
                    </a:ext>
                  </a:extLst>
                </a:gridCol>
                <a:gridCol w="1495030">
                  <a:extLst>
                    <a:ext uri="{9D8B030D-6E8A-4147-A177-3AD203B41FA5}">
                      <a16:colId xmlns:a16="http://schemas.microsoft.com/office/drawing/2014/main" val="1158840958"/>
                    </a:ext>
                  </a:extLst>
                </a:gridCol>
                <a:gridCol w="1293306">
                  <a:extLst>
                    <a:ext uri="{9D8B030D-6E8A-4147-A177-3AD203B41FA5}">
                      <a16:colId xmlns:a16="http://schemas.microsoft.com/office/drawing/2014/main" val="1014947327"/>
                    </a:ext>
                  </a:extLst>
                </a:gridCol>
                <a:gridCol w="1793273">
                  <a:extLst>
                    <a:ext uri="{9D8B030D-6E8A-4147-A177-3AD203B41FA5}">
                      <a16:colId xmlns:a16="http://schemas.microsoft.com/office/drawing/2014/main" val="2653728004"/>
                    </a:ext>
                  </a:extLst>
                </a:gridCol>
                <a:gridCol w="1793273">
                  <a:extLst>
                    <a:ext uri="{9D8B030D-6E8A-4147-A177-3AD203B41FA5}">
                      <a16:colId xmlns:a16="http://schemas.microsoft.com/office/drawing/2014/main" val="4218738779"/>
                    </a:ext>
                  </a:extLst>
                </a:gridCol>
              </a:tblGrid>
              <a:tr h="804053">
                <a:tc>
                  <a:txBody>
                    <a:bodyPr/>
                    <a:lstStyle/>
                    <a:p>
                      <a:pPr algn="l"/>
                      <a:endParaRPr lang="en-US" sz="1800" dirty="0">
                        <a:solidFill>
                          <a:schemeClr val="tx1"/>
                        </a:solidFill>
                      </a:endParaRPr>
                    </a:p>
                    <a:p>
                      <a:pPr algn="l"/>
                      <a:r>
                        <a:rPr lang="en-US" sz="1800" dirty="0">
                          <a:solidFill>
                            <a:schemeClr val="tx1"/>
                          </a:solidFill>
                        </a:rPr>
                        <a:t>Sno</a:t>
                      </a:r>
                    </a:p>
                  </a:txBody>
                  <a:tcPr/>
                </a:tc>
                <a:tc>
                  <a:txBody>
                    <a:bodyPr/>
                    <a:lstStyle/>
                    <a:p>
                      <a:pPr algn="l"/>
                      <a:r>
                        <a:rPr lang="en-US" sz="1800" dirty="0">
                          <a:solidFill>
                            <a:schemeClr val="tx1"/>
                          </a:solidFill>
                        </a:rPr>
                        <a:t>Categories</a:t>
                      </a:r>
                      <a:endParaRPr lang="ru-RU" sz="1800" dirty="0">
                        <a:solidFill>
                          <a:schemeClr val="tx1"/>
                        </a:solidFill>
                      </a:endParaRPr>
                    </a:p>
                  </a:txBody>
                  <a:tcPr marL="95186" marR="95186" marT="47593" marB="47593" anchor="ctr"/>
                </a:tc>
                <a:tc>
                  <a:txBody>
                    <a:bodyPr/>
                    <a:lstStyle/>
                    <a:p>
                      <a:pPr algn="l"/>
                      <a:r>
                        <a:rPr lang="en-US" sz="1800" dirty="0">
                          <a:solidFill>
                            <a:schemeClr val="tx1"/>
                          </a:solidFill>
                        </a:rPr>
                        <a:t>Numbers</a:t>
                      </a:r>
                      <a:endParaRPr lang="ru-RU" sz="1800" dirty="0">
                        <a:solidFill>
                          <a:schemeClr val="tx1"/>
                        </a:solidFill>
                      </a:endParaRPr>
                    </a:p>
                  </a:txBody>
                  <a:tcPr marL="95186" marR="95186" marT="47593" marB="47593" anchor="ctr"/>
                </a:tc>
                <a:tc>
                  <a:txBody>
                    <a:bodyPr/>
                    <a:lstStyle/>
                    <a:p>
                      <a:pPr algn="l"/>
                      <a:r>
                        <a:rPr lang="en-IN" sz="1800" dirty="0">
                          <a:solidFill>
                            <a:schemeClr val="tx1"/>
                          </a:solidFill>
                        </a:rPr>
                        <a:t>Current Problem</a:t>
                      </a:r>
                      <a:endParaRPr lang="ru-RU" sz="1800" dirty="0">
                        <a:solidFill>
                          <a:schemeClr val="tx1"/>
                        </a:solidFill>
                      </a:endParaRPr>
                    </a:p>
                  </a:txBody>
                  <a:tcPr marL="95186" marR="95186" marT="47593" marB="47593" anchor="ctr"/>
                </a:tc>
                <a:tc>
                  <a:txBody>
                    <a:bodyPr/>
                    <a:lstStyle/>
                    <a:p>
                      <a:pPr algn="l"/>
                      <a:r>
                        <a:rPr lang="en-US" sz="1800" dirty="0">
                          <a:solidFill>
                            <a:schemeClr val="tx1"/>
                          </a:solidFill>
                        </a:rPr>
                        <a:t>OPPURTUNITY</a:t>
                      </a:r>
                      <a:endParaRPr lang="ru-RU" sz="1800" dirty="0">
                        <a:solidFill>
                          <a:schemeClr val="tx1"/>
                        </a:solidFill>
                      </a:endParaRPr>
                    </a:p>
                  </a:txBody>
                  <a:tcPr marL="95186" marR="95186" marT="47593" marB="47593" anchor="ctr"/>
                </a:tc>
                <a:extLst>
                  <a:ext uri="{0D108BD9-81ED-4DB2-BD59-A6C34878D82A}">
                    <a16:rowId xmlns:a16="http://schemas.microsoft.com/office/drawing/2014/main" val="3213590700"/>
                  </a:ext>
                </a:extLst>
              </a:tr>
              <a:tr h="804053">
                <a:tc>
                  <a:txBody>
                    <a:bodyPr/>
                    <a:lstStyle/>
                    <a:p>
                      <a:pPr algn="l"/>
                      <a:r>
                        <a:rPr lang="en-IN" sz="1800" dirty="0">
                          <a:solidFill>
                            <a:schemeClr val="tx1"/>
                          </a:solidFill>
                        </a:rPr>
                        <a:t>1.</a:t>
                      </a:r>
                      <a:endParaRPr lang="ru-RU" sz="1800" dirty="0">
                        <a:solidFill>
                          <a:schemeClr val="tx1"/>
                        </a:solidFill>
                      </a:endParaRPr>
                    </a:p>
                  </a:txBody>
                  <a:tcPr anchor="ctr"/>
                </a:tc>
                <a:tc>
                  <a:txBody>
                    <a:bodyPr/>
                    <a:lstStyle/>
                    <a:p>
                      <a:pPr algn="l"/>
                      <a:r>
                        <a:rPr lang="en-US" sz="1800" dirty="0">
                          <a:solidFill>
                            <a:schemeClr val="tx1"/>
                          </a:solidFill>
                        </a:rPr>
                        <a:t>Urban homes</a:t>
                      </a:r>
                      <a:endParaRPr lang="ru-RU" sz="1800" dirty="0">
                        <a:solidFill>
                          <a:schemeClr val="tx1"/>
                        </a:solidFill>
                      </a:endParaRPr>
                    </a:p>
                  </a:txBody>
                  <a:tcPr marL="95186" marR="95186" marT="47593" marB="47593" anchor="ctr"/>
                </a:tc>
                <a:tc>
                  <a:txBody>
                    <a:bodyPr/>
                    <a:lstStyle/>
                    <a:p>
                      <a:pPr algn="l"/>
                      <a:r>
                        <a:rPr lang="en-US" sz="1800" dirty="0">
                          <a:solidFill>
                            <a:schemeClr val="tx1"/>
                          </a:solidFill>
                        </a:rPr>
                        <a:t>10 </a:t>
                      </a:r>
                      <a:r>
                        <a:rPr lang="en-US" sz="1800" dirty="0" err="1">
                          <a:solidFill>
                            <a:schemeClr val="tx1"/>
                          </a:solidFill>
                        </a:rPr>
                        <a:t>cr</a:t>
                      </a:r>
                      <a:r>
                        <a:rPr lang="en-US" sz="1800" dirty="0">
                          <a:solidFill>
                            <a:schemeClr val="tx1"/>
                          </a:solidFill>
                        </a:rPr>
                        <a:t>+</a:t>
                      </a:r>
                      <a:endParaRPr lang="ru-RU" sz="1800" dirty="0">
                        <a:solidFill>
                          <a:schemeClr val="tx1"/>
                        </a:solidFill>
                      </a:endParaRPr>
                    </a:p>
                  </a:txBody>
                  <a:tcPr marL="95186" marR="95186" marT="47593" marB="47593" anchor="ctr"/>
                </a:tc>
                <a:tc>
                  <a:txBody>
                    <a:bodyPr/>
                    <a:lstStyle/>
                    <a:p>
                      <a:pPr algn="l"/>
                      <a:r>
                        <a:rPr lang="en-IN" dirty="0"/>
                        <a:t>Need frequent repair services</a:t>
                      </a:r>
                      <a:endParaRPr lang="ru-RU" sz="1800" dirty="0">
                        <a:solidFill>
                          <a:schemeClr val="tx1"/>
                        </a:solidFill>
                      </a:endParaRPr>
                    </a:p>
                  </a:txBody>
                  <a:tcPr marL="95186" marR="95186" marT="47593" marB="47593" anchor="ctr"/>
                </a:tc>
                <a:tc>
                  <a:txBody>
                    <a:bodyPr/>
                    <a:lstStyle/>
                    <a:p>
                      <a:pPr algn="l"/>
                      <a:r>
                        <a:rPr lang="en-IN" dirty="0"/>
                        <a:t>Large scope for digital platforms</a:t>
                      </a:r>
                      <a:endParaRPr lang="ru-RU" sz="1800" dirty="0">
                        <a:solidFill>
                          <a:schemeClr val="tx1"/>
                        </a:solidFill>
                      </a:endParaRPr>
                    </a:p>
                  </a:txBody>
                  <a:tcPr marL="95186" marR="95186" marT="47593" marB="47593" anchor="ctr"/>
                </a:tc>
                <a:extLst>
                  <a:ext uri="{0D108BD9-81ED-4DB2-BD59-A6C34878D82A}">
                    <a16:rowId xmlns:a16="http://schemas.microsoft.com/office/drawing/2014/main" val="2830826746"/>
                  </a:ext>
                </a:extLst>
              </a:tr>
              <a:tr h="804053">
                <a:tc>
                  <a:txBody>
                    <a:bodyPr/>
                    <a:lstStyle/>
                    <a:p>
                      <a:pPr algn="l"/>
                      <a:r>
                        <a:rPr lang="en-IN" sz="1800" dirty="0">
                          <a:solidFill>
                            <a:schemeClr val="tx1"/>
                          </a:solidFill>
                        </a:rPr>
                        <a:t>2.</a:t>
                      </a:r>
                      <a:endParaRPr lang="ru-RU" sz="1800" dirty="0">
                        <a:solidFill>
                          <a:schemeClr val="tx1"/>
                        </a:solidFill>
                      </a:endParaRPr>
                    </a:p>
                  </a:txBody>
                  <a:tcPr anchor="ctr"/>
                </a:tc>
                <a:tc>
                  <a:txBody>
                    <a:bodyPr/>
                    <a:lstStyle/>
                    <a:p>
                      <a:pPr algn="l"/>
                      <a:r>
                        <a:rPr lang="en-US" sz="1800" dirty="0">
                          <a:solidFill>
                            <a:schemeClr val="tx1"/>
                          </a:solidFill>
                        </a:rPr>
                        <a:t>Skilled Workers</a:t>
                      </a:r>
                      <a:endParaRPr lang="ru-RU" sz="1800" dirty="0">
                        <a:solidFill>
                          <a:schemeClr val="tx1"/>
                        </a:solidFill>
                      </a:endParaRPr>
                    </a:p>
                  </a:txBody>
                  <a:tcPr marL="95186" marR="95186" marT="47593" marB="47593" anchor="ctr"/>
                </a:tc>
                <a:tc>
                  <a:txBody>
                    <a:bodyPr/>
                    <a:lstStyle/>
                    <a:p>
                      <a:pPr algn="l"/>
                      <a:r>
                        <a:rPr lang="en-IN" sz="1800" dirty="0">
                          <a:solidFill>
                            <a:schemeClr val="tx1"/>
                          </a:solidFill>
                        </a:rPr>
                        <a:t>2 </a:t>
                      </a:r>
                      <a:r>
                        <a:rPr lang="en-IN" sz="1800" dirty="0" err="1">
                          <a:solidFill>
                            <a:schemeClr val="tx1"/>
                          </a:solidFill>
                        </a:rPr>
                        <a:t>cr</a:t>
                      </a:r>
                      <a:r>
                        <a:rPr lang="en-IN" sz="1800" dirty="0">
                          <a:solidFill>
                            <a:schemeClr val="tx1"/>
                          </a:solidFill>
                        </a:rPr>
                        <a:t>+</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Irregular job opportunities</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Online platforms simplify access</a:t>
                      </a:r>
                      <a:endParaRPr lang="ru-RU" sz="1800" dirty="0">
                        <a:solidFill>
                          <a:schemeClr val="tx1"/>
                        </a:solidFill>
                      </a:endParaRPr>
                    </a:p>
                  </a:txBody>
                  <a:tcPr marL="95186" marR="95186" marT="47593" marB="47593" anchor="ctr"/>
                </a:tc>
                <a:extLst>
                  <a:ext uri="{0D108BD9-81ED-4DB2-BD59-A6C34878D82A}">
                    <a16:rowId xmlns:a16="http://schemas.microsoft.com/office/drawing/2014/main" val="2517333721"/>
                  </a:ext>
                </a:extLst>
              </a:tr>
              <a:tr h="966437">
                <a:tc>
                  <a:txBody>
                    <a:bodyPr/>
                    <a:lstStyle/>
                    <a:p>
                      <a:pPr algn="l"/>
                      <a:r>
                        <a:rPr lang="en-IN" sz="1800" dirty="0">
                          <a:solidFill>
                            <a:schemeClr val="tx1"/>
                          </a:solidFill>
                        </a:rPr>
                        <a:t>3.</a:t>
                      </a:r>
                      <a:endParaRPr lang="ru-RU" sz="1800" dirty="0">
                        <a:solidFill>
                          <a:schemeClr val="tx1"/>
                        </a:solidFill>
                      </a:endParaRPr>
                    </a:p>
                  </a:txBody>
                  <a:tcPr anchor="ctr"/>
                </a:tc>
                <a:tc>
                  <a:txBody>
                    <a:bodyPr/>
                    <a:lstStyle/>
                    <a:p>
                      <a:pPr algn="l"/>
                      <a:r>
                        <a:rPr lang="en-US" sz="1800" dirty="0">
                          <a:solidFill>
                            <a:schemeClr val="tx1"/>
                          </a:solidFill>
                        </a:rPr>
                        <a:t>Home Service Market</a:t>
                      </a:r>
                      <a:endParaRPr lang="ru-RU" sz="1800" dirty="0">
                        <a:solidFill>
                          <a:schemeClr val="tx1"/>
                        </a:solidFill>
                      </a:endParaRPr>
                    </a:p>
                  </a:txBody>
                  <a:tcPr marL="95186" marR="95186" marT="47593" marB="47593" anchor="ctr"/>
                </a:tc>
                <a:tc>
                  <a:txBody>
                    <a:bodyPr/>
                    <a:lstStyle/>
                    <a:p>
                      <a:pPr algn="l"/>
                      <a:r>
                        <a:rPr lang="en-US" sz="1800" dirty="0">
                          <a:solidFill>
                            <a:schemeClr val="tx1"/>
                          </a:solidFill>
                        </a:rPr>
                        <a:t>50,000 </a:t>
                      </a:r>
                      <a:r>
                        <a:rPr lang="en-US" sz="1800" dirty="0" err="1">
                          <a:solidFill>
                            <a:schemeClr val="tx1"/>
                          </a:solidFill>
                        </a:rPr>
                        <a:t>cr</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Mostly unorganized sector</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Platform can increase job opportunities</a:t>
                      </a:r>
                      <a:endParaRPr lang="ru-RU" sz="1800" dirty="0">
                        <a:solidFill>
                          <a:schemeClr val="tx1"/>
                        </a:solidFill>
                      </a:endParaRPr>
                    </a:p>
                  </a:txBody>
                  <a:tcPr marL="95186" marR="95186" marT="47593" marB="47593" anchor="ctr"/>
                </a:tc>
                <a:extLst>
                  <a:ext uri="{0D108BD9-81ED-4DB2-BD59-A6C34878D82A}">
                    <a16:rowId xmlns:a16="http://schemas.microsoft.com/office/drawing/2014/main" val="3321589815"/>
                  </a:ext>
                </a:extLst>
              </a:tr>
              <a:tr h="940315">
                <a:tc>
                  <a:txBody>
                    <a:bodyPr/>
                    <a:lstStyle/>
                    <a:p>
                      <a:pPr algn="l"/>
                      <a:r>
                        <a:rPr lang="en-US" sz="1800" dirty="0">
                          <a:solidFill>
                            <a:schemeClr val="tx1"/>
                          </a:solidFill>
                        </a:rPr>
                        <a:t>4.</a:t>
                      </a:r>
                      <a:endParaRPr lang="ru-RU" sz="1800" dirty="0">
                        <a:solidFill>
                          <a:schemeClr val="tx1"/>
                        </a:solidFill>
                      </a:endParaRPr>
                    </a:p>
                  </a:txBody>
                  <a:tcPr anchor="ctr"/>
                </a:tc>
                <a:tc>
                  <a:txBody>
                    <a:bodyPr/>
                    <a:lstStyle/>
                    <a:p>
                      <a:pPr algn="l"/>
                      <a:r>
                        <a:rPr lang="en-US" sz="1800" dirty="0">
                          <a:solidFill>
                            <a:schemeClr val="tx1"/>
                          </a:solidFill>
                        </a:rPr>
                        <a:t>Internet Users</a:t>
                      </a:r>
                      <a:endParaRPr lang="ru-RU" sz="1800" dirty="0">
                        <a:solidFill>
                          <a:schemeClr val="tx1"/>
                        </a:solidFill>
                      </a:endParaRPr>
                    </a:p>
                  </a:txBody>
                  <a:tcPr marL="95186" marR="95186" marT="47593" marB="47593" anchor="ctr"/>
                </a:tc>
                <a:tc>
                  <a:txBody>
                    <a:bodyPr/>
                    <a:lstStyle/>
                    <a:p>
                      <a:pPr algn="l"/>
                      <a:r>
                        <a:rPr lang="en-US" sz="1800" dirty="0">
                          <a:solidFill>
                            <a:schemeClr val="tx1"/>
                          </a:solidFill>
                        </a:rPr>
                        <a:t>80 </a:t>
                      </a:r>
                      <a:r>
                        <a:rPr lang="en-US" sz="1800" dirty="0" err="1">
                          <a:solidFill>
                            <a:schemeClr val="tx1"/>
                          </a:solidFill>
                        </a:rPr>
                        <a:t>cr</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Hard to find trusted workers</a:t>
                      </a:r>
                      <a:endParaRPr lang="ru-RU" sz="1800" dirty="0">
                        <a:solidFill>
                          <a:schemeClr val="tx1"/>
                        </a:solidFill>
                      </a:endParaRPr>
                    </a:p>
                  </a:txBody>
                  <a:tcPr marL="95186" marR="95186" marT="47593" marB="4759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potential for online service marketplaces</a:t>
                      </a:r>
                      <a:endParaRPr lang="ru-RU" sz="1800" dirty="0">
                        <a:solidFill>
                          <a:schemeClr val="tx1"/>
                        </a:solidFill>
                      </a:endParaRPr>
                    </a:p>
                  </a:txBody>
                  <a:tcPr marL="95186" marR="95186" marT="47593" marB="47593" anchor="ctr"/>
                </a:tc>
                <a:extLst>
                  <a:ext uri="{0D108BD9-81ED-4DB2-BD59-A6C34878D82A}">
                    <a16:rowId xmlns:a16="http://schemas.microsoft.com/office/drawing/2014/main" val="3345832805"/>
                  </a:ext>
                </a:extLst>
              </a:tr>
            </a:tbl>
          </a:graphicData>
        </a:graphic>
      </p:graphicFrame>
      <p:sp>
        <p:nvSpPr>
          <p:cNvPr id="5" name="Slide Number Placeholder 4">
            <a:extLst>
              <a:ext uri="{FF2B5EF4-FFF2-40B4-BE49-F238E27FC236}">
                <a16:creationId xmlns:a16="http://schemas.microsoft.com/office/drawing/2014/main" id="{0FF6EF25-1A43-B685-800B-85D36602EF9F}"/>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14926147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
        <p:nvSpPr>
          <p:cNvPr id="10" name="Content Placeholder 9">
            <a:extLst>
              <a:ext uri="{FF2B5EF4-FFF2-40B4-BE49-F238E27FC236}">
                <a16:creationId xmlns:a16="http://schemas.microsoft.com/office/drawing/2014/main" id="{1F398FDD-E639-CF6A-B875-443655F2B31B}"/>
              </a:ext>
            </a:extLst>
          </p:cNvPr>
          <p:cNvSpPr>
            <a:spLocks noGrp="1"/>
          </p:cNvSpPr>
          <p:nvPr>
            <p:ph idx="1"/>
          </p:nvPr>
        </p:nvSpPr>
        <p:spPr>
          <a:xfrm>
            <a:off x="6091514" y="4172989"/>
            <a:ext cx="5057103" cy="2519363"/>
          </a:xfrm>
        </p:spPr>
        <p:txBody>
          <a:bodyPr/>
          <a:lstStyle/>
          <a:p>
            <a:r>
              <a:rPr lang="en-US" dirty="0">
                <a:solidFill>
                  <a:schemeClr val="tx1"/>
                </a:solidFill>
              </a:rPr>
              <a:t>MITHILESH M </a:t>
            </a:r>
            <a:br>
              <a:rPr lang="en-US" dirty="0">
                <a:solidFill>
                  <a:schemeClr val="tx1"/>
                </a:solidFill>
              </a:rPr>
            </a:br>
            <a:r>
              <a:rPr lang="en-US" dirty="0">
                <a:solidFill>
                  <a:schemeClr val="tx1"/>
                </a:solidFill>
              </a:rPr>
              <a:t>SANJAY S</a:t>
            </a:r>
            <a:br>
              <a:rPr lang="en-US" dirty="0">
                <a:solidFill>
                  <a:schemeClr val="tx1"/>
                </a:solidFill>
              </a:rPr>
            </a:br>
            <a:r>
              <a:rPr lang="en-US" dirty="0">
                <a:solidFill>
                  <a:schemeClr val="tx1"/>
                </a:solidFill>
              </a:rPr>
              <a:t>KISHORE KUMAR S</a:t>
            </a:r>
          </a:p>
        </p:txBody>
      </p:sp>
    </p:spTree>
    <p:extLst>
      <p:ext uri="{BB962C8B-B14F-4D97-AF65-F5344CB8AC3E}">
        <p14:creationId xmlns:p14="http://schemas.microsoft.com/office/powerpoint/2010/main" val="769932640"/>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48</TotalTime>
  <Words>558</Words>
  <Application>Microsoft Office PowerPoint</Application>
  <PresentationFormat>Widescreen</PresentationFormat>
  <Paragraphs>103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Tenorite</vt:lpstr>
      <vt:lpstr>Custom</vt:lpstr>
      <vt:lpstr>MISTRO</vt:lpstr>
      <vt:lpstr>INTRO</vt:lpstr>
      <vt:lpstr>PROBLEM STATEMENT</vt:lpstr>
      <vt:lpstr>project objective</vt:lpstr>
      <vt:lpstr>PROPOSED SOLUTION </vt:lpstr>
      <vt:lpstr>SYSTEM FEATURES</vt:lpstr>
      <vt:lpstr>THE UI</vt:lpstr>
      <vt:lpstr>TOOLS USED </vt:lpstr>
      <vt:lpstr>EXPECTED IMPACT</vt:lpstr>
      <vt:lpstr>Market overview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Mithilesh krishna</dc:creator>
  <cp:lastModifiedBy>kishore s</cp:lastModifiedBy>
  <cp:revision>2</cp:revision>
  <dcterms:created xsi:type="dcterms:W3CDTF">2026-03-16T18:03:52Z</dcterms:created>
  <dcterms:modified xsi:type="dcterms:W3CDTF">2026-03-31T07:08:58Z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